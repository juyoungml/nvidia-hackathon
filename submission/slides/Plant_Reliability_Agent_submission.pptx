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 이상, 첫 조사를 AI 에이전트가 먼저 하는 이야기입니다. 예를 하나 들겠습니다. 겨울에 한 집에서 '난방이 안 된다'는 신고가 들어왔습니다. 그런데 계측값을 보면 공급온도는 목표와 거의 같습니다. 숫자는 정상인데 방은 추운 상황이죠. 저희 Plant Reliability Agent는 이런 신고가 들어오면, 엔지니어보다 먼저 AI 에이전트가 첫 조사를 해 두는 도구입니다. 에이전트의 두뇌는 NVIDIA Nemotron 3 Ultra입니다.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설비가 예정에 없이 멈추는 것을 비계획 정지, 다운타임이라고 부릅니다. 숫자로 보면 이렇습니다. Siemens의 2024년 보고서에 따르면 포춘 글로벌 500 기업이 비계획 정지로 1년에 약 1.4조 달러, 매출의 약 11%를 잃습니다. 발전소만의 수치는 아니고 대형 산업 전반의 수치입니다. 그래서 이상 징후를 빨리 알아채고, 원인을 빨리 찾는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이슈가 생겼을 때 원인을 판단하기 어려운 이유는 자료가 여러 곳에 흩어져 있기 때문입니다. 배관과 계기 연결을 보여 주는 도면인 P&amp;ID와 로직 다이어그램, 과거 이상 신고인 TM, 정비 작업 지시인 WO, 그리고 센서 트렌드 데이터가 모두 다른 시스템에 있습니다. 엔지니어는 이것을 하나씩 열어 머릿속에서 연결해야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제어·운영망은 외부망과 분리하고 통제하는 것이 원칙입니다. 북미의 NERC CIP 표준이나 국내 국가 망 보안체계가 그 예입니다. 그래서 외부 클라우드 AI에 현장 자료를 그대로 보내기 어렵습니다. 그래서 모델을 현장 내부에 설치해야 합니다. 저희는 공개 가중치 모델인 NVIDIA Nemotron과, 책상 위에 올릴 수 있는 NVIDIA DGX Spark를 조합했습니다. 평가에 쓴 모델은 Nemotron 3 Ultra로, 전체 5,500억 파라미터 중 한 번에 550억만 쓰는 구조입니다. DGX Spark 한 대의 메모리는 128기가바이트입니다. 저희 계산으로 Ultra는 가중치 약 275기가바이트에 여유를 더해 최소 3대, 권장 DGX Spark 약 4대, 가벼운 대안인 Nemotron 3 Super 120B는 1대면 됩니다. Super는 아직 평가하지 않았고, 대수는 측정이 아닌 추정입니다.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두 단계로 나눴습니다. System 1은 항상 켜져 있으면서 트렌드를 감시하고 알람을 냅니다. 가볍고 빨라야 하고, Nemotron Nano를 후보로 보고 있습니다. 이 부분은 아직 설계와 이전 실험 단계입니다. System 2는 문제가 생겼을 때 도면, TM, WO, 트렌드를 연결해 원인을 찾고 다음 점검을 제안합니다. 오늘 데모는 이 System 2입니다. 나눈 이유는 간단합니다. 상시 감시는 빨라야 하고, 원인 조사는 깊어야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구조를 한 장으로 보겠습니다. 왼쪽은 발전소 안의 자료, 도면, TM, WO, 트렌드입니다. 위쪽 System 1은 트렌드를 상시 감시하는 부분으로, Nemotron Nano를 쓰는 설계 단계라 점선으로 표시했습니다. 아래쪽 System 2가 오늘 데모입니다. 신고나 알람이 들어오면 Nemotron 3 Ultra가 NeMo Agent Toolkit의 읽기 전용 도구 6종으로 자료를 조회하고 대조해 점검안을 씁니다. 모든 인용은 실제 조회 기록과 연결되는지 검사한 뒤 엔지니어에게 전달되고, 결정은 엔지니어가 합니다. 모델과 도구는 OpenShell 격리 환경에서 시험했고, 전체는 현장 내부 DGX Spark에 배포하는 것을 전제로 합니다. 도면 검색용 NeMo Retriever도 계획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1의 설계 부하를 계산해 봤습니다. 신호 5만 개가 0.1초마다 갱신된다고 가정하면 초당 50만 개 관측값입니다. 값과 시각을 16바이트로 저장하면 초당 8메가바이트, 하루 691기가바이트입니다. 이건 측정값이 아니라 설계 계산입니다. 이 양을 전부 큰 모델에 보낼 수는 없습니다. 그래서 먼저 시계열 코드로 변화율이나 기준선 이탈을 요약하고, Nano가 사건을 묶어 우선순위를 정하고, 선별된 사건만 Ultra가 조사합니다. 지금 로컬 Nano는 요청 한 건에 6에서 11초가 걸려서, 이 부분도 병목이 될 수 있습니다. 부하 시험이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고객 발전소 데이터는 공개할 수 없어서, 공개 데이터인 PreDist v2로 벤치마크를 만들었습니다. PreDist는 지역난방 데이터입니다. 30초만 배경을 설명드리겠습니다. 지역난방은 한 곳에서 만든 뜨거운 물을 도시 배관으로 보내고, 건물마다 있는 서브스테이션에서 열을 건물 배관으로 옮기는 방식입니다. 이 공개 데이터에는 공급온도 센서 기록은 있지만, 건물 안 배관의 유량이나 실내 온도는 없습니다. 샤워기 물이 뜨거워도 수압이 약하면 씻기 어렵죠. 온도가 정상이어도 방이 추울 수 있는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공개 데이터 PreDist v2의 사례입니다. 2019년 1월 9일 오후 2시 18분, 17번 서브스테이션 고객이 난방이 안 된다고 신고했습니다. 신고 직전 마지막 계측은 2시 10분, 공급온도 63.9도, 목표 63.8도로 정상처럼 보입니다. 하지만 24시간, 10분 간격 144개 기록을 보면 그전에 두 선이 여러 번 벌어졌고, 차이가 최대 13.4도까지 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Nemotron 3 Ultra가 스스로 어떤 자료를 볼지 골랐습니다. 최근 계측, 센서 설명, 과거 신고, 정비 기록, 목표에서 벗어난 시간대, 그리고 1시부터 2시 18분 구간을 다시 조회했습니다. 모델과 도구 실행 시간은 약 20초입니다. 결과는 원본 기록에 연결된 점검 3가지와, 데이터로는 알 수 없는 것의 목록입니다. 최종 판단은 엔지니어가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2의 구조입니다. 신고와 접수 시각이 들어오면 NVIDIA NIM으로 제공되는 Nemotron 3 Ultra가 읽을 자료를 고릅니다. 읽기 전용 도구는 NeMo Agent Toolkit으로 등록했고, 사례 52 개발 실행에서 모델이 고른 조회 6회를 NeMo Agent Toolkit이 실행했습니다. 조사 순서 루프 자체는 저희 Python 코드입니다. OpenShell은 안전장치로, 공개 시험 데이터에서 허용 파일 읽기만 통과하고 나머지는 차단되는 것을 확인했습니다. 전체 경로 적용은 아직입니다. 강조하고 싶은 점은 NIM, NeMo Agent Toolkit, OpenShell처럼 에이전트 실행 환경 생태계가 잘 갖춰져 있어서, 로컬 보안 환경용 에이전트를 빠르게 구성할 수 있었다는 것입니다. 초록색이 NVIDIA 기술입니다.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PreDist 사건 32건을 같은 자료와 같은 출력 형식으로 돌렸습니다. Claude Sonnet 5는 클라우드 최고 수준의 기준점이지만, 보안 때문에 발전소 안에서는 쓸 수 없습니다. 질문은 누가 이기느냐가 아니라, 현장에 설치할 수 있는 모델이 이 상한선에 얼마나 가까운가입니다. Ultra가 끝까지 작성한 점검안 15개는 모두 근거 검사를 통과했습니다. 조회하지 않은 기록을 지어낸 경우는 한 번도 없었습니다. 둘 다 결과를 낸 사례의 내용 점수도 41 대 42로 비슷했습니다. Ultra가 놓친 17건 중 13건은 호스팅 API 오류로 답을 받지 못한 경우이고, 4건은 시간 구간을 한도보다 길게 요청한 한 가지 도구 실수였습니다. 즉 격차는 판단력이 아니라 실행 안정성에서 나옵니다. 현장 배포로 외부 API 요인을 없애고 도구 쪽에서 요청 범위를 자동으로 맞춰 주는 것이 오프라인 보완 계획입니다. 이 검사는 진단 정확도 평가는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단계는 세 가지입니다. 먼저 오프라인 현장 환경에서 Ultra의 부족한 부분을 보완하고 현장 엔지니어에게 평가받습니다. 다음으로 System 1을 Nemotron Nano로 구현하고 5만 개 신호 부하 시험을 합니다. 마지막으로 System 1과 System 2를 연결해 DGX Spark 위에서 현장 내부에서 돌리는 것이 목표입니다. 오늘 데모는 저장된 실제 실행 기록을 재생한 것입니다. 판단은 엔지니어가, 자료 수집은 Plant가 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1554480"/>
            <a:ext cx="10058400" cy="1097280"/>
          </a:xfrm>
          <a:prstGeom prst="rect">
            <a:avLst/>
          </a:prstGeom>
          <a:noFill/>
        </p:spPr>
        <p:txBody>
          <a:bodyPr wrap="square" lIns="18288" rIns="18288" tIns="18288" bIns="18288" anchor="t">
            <a:spAutoFit/>
          </a:bodyPr>
          <a:lstStyle/>
          <a:p>
            <a:pPr algn="l">
              <a:lnSpc>
                <a:spcPct val="115000"/>
              </a:lnSpc>
            </a:pPr>
            <a:r>
              <a:rPr sz="5400" b="1">
                <a:solidFill>
                  <a:srgbClr val="172B27"/>
                </a:solidFill>
                <a:latin typeface="Apple SD Gothic Neo"/>
                <a:ea typeface="Apple SD Gothic Neo"/>
                <a:cs typeface="Apple SD Gothic Neo"/>
              </a:rPr>
              <a:t>계측은 정상인데, 방은 춥다</a:t>
            </a:r>
          </a:p>
        </p:txBody>
      </p:sp>
      <p:sp>
        <p:nvSpPr>
          <p:cNvPr id="4" name="TextBox 3"/>
          <p:cNvSpPr txBox="1"/>
          <p:nvPr/>
        </p:nvSpPr>
        <p:spPr>
          <a:xfrm>
            <a:off x="914400" y="2743200"/>
            <a:ext cx="10058400" cy="731520"/>
          </a:xfrm>
          <a:prstGeom prst="rect">
            <a:avLst/>
          </a:prstGeom>
          <a:noFill/>
        </p:spPr>
        <p:txBody>
          <a:bodyPr wrap="square" lIns="18288" rIns="18288" tIns="18288" bIns="18288" anchor="t">
            <a:spAutoFit/>
          </a:bodyPr>
          <a:lstStyle/>
          <a:p>
            <a:pPr algn="l">
              <a:lnSpc>
                <a:spcPct val="115000"/>
              </a:lnSpc>
            </a:pPr>
            <a:r>
              <a:rPr sz="3200" b="1">
                <a:solidFill>
                  <a:srgbClr val="244E41"/>
                </a:solidFill>
                <a:latin typeface="Apple SD Gothic Neo"/>
                <a:ea typeface="Apple SD Gothic Neo"/>
                <a:cs typeface="Apple SD Gothic Neo"/>
              </a:rPr>
              <a:t>Plant Reliability Agent</a:t>
            </a:r>
          </a:p>
        </p:txBody>
      </p:sp>
      <p:sp>
        <p:nvSpPr>
          <p:cNvPr id="5" name="Rectangle 4"/>
          <p:cNvSpPr/>
          <p:nvPr/>
        </p:nvSpPr>
        <p:spPr>
          <a:xfrm>
            <a:off x="914400" y="3611880"/>
            <a:ext cx="1097280" cy="54864"/>
          </a:xfrm>
          <a:prstGeom prst="rect">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931920"/>
            <a:ext cx="10058400" cy="548640"/>
          </a:xfrm>
          <a:prstGeom prst="rect">
            <a:avLst/>
          </a:prstGeom>
          <a:noFill/>
        </p:spPr>
        <p:txBody>
          <a:bodyPr wrap="square" lIns="18288" rIns="18288" tIns="18288" bIns="18288" anchor="t">
            <a:spAutoFit/>
          </a:bodyPr>
          <a:lstStyle/>
          <a:p>
            <a:pPr algn="l">
              <a:lnSpc>
                <a:spcPct val="115000"/>
              </a:lnSpc>
            </a:pPr>
            <a:r>
              <a:rPr sz="2400" b="0">
                <a:solidFill>
                  <a:srgbClr val="172B27"/>
                </a:solidFill>
                <a:latin typeface="Apple SD Gothic Neo"/>
                <a:ea typeface="Apple SD Gothic Neo"/>
                <a:cs typeface="Apple SD Gothic Neo"/>
              </a:rPr>
              <a:t>설비 이상 신고가 들어오면, 첫 조사는 AI 에이전트가 먼저</a:t>
            </a:r>
          </a:p>
        </p:txBody>
      </p:sp>
      <p:sp>
        <p:nvSpPr>
          <p:cNvPr id="7" name="TextBox 6"/>
          <p:cNvSpPr txBox="1"/>
          <p:nvPr/>
        </p:nvSpPr>
        <p:spPr>
          <a:xfrm>
            <a:off x="914400" y="5120640"/>
            <a:ext cx="1005840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Built with </a:t>
            </a:r>
            <a:r>
              <a:rPr sz="2000" b="1">
                <a:solidFill>
                  <a:srgbClr val="76B900"/>
                </a:solidFill>
                <a:latin typeface="Apple SD Gothic Neo"/>
                <a:ea typeface="Apple SD Gothic Neo"/>
                <a:cs typeface="Apple SD Gothic Neo"/>
              </a:rPr>
              <a:t>NVIDIA Nemotron 3 Ultra</a:t>
            </a:r>
          </a:p>
        </p:txBody>
      </p:sp>
      <p:sp>
        <p:nvSpPr>
          <p:cNvPr id="8" name="TextBox 7"/>
          <p:cNvSpPr txBox="1"/>
          <p:nvPr/>
        </p:nvSpPr>
        <p:spPr>
          <a:xfrm>
            <a:off x="914400" y="6035040"/>
            <a:ext cx="10058400" cy="365760"/>
          </a:xfrm>
          <a:prstGeom prst="rect">
            <a:avLst/>
          </a:prstGeom>
          <a:noFill/>
        </p:spPr>
        <p:txBody>
          <a:bodyPr wrap="square" lIns="18288" rIns="18288" tIns="18288" bIns="18288" anchor="t">
            <a:spAutoFit/>
          </a:bodyPr>
          <a:lstStyle/>
          <a:p>
            <a:pPr algn="l">
              <a:lnSpc>
                <a:spcPct val="115000"/>
              </a:lnSpc>
            </a:pPr>
            <a:r>
              <a:rPr sz="1400" b="0">
                <a:solidFill>
                  <a:srgbClr val="62736A"/>
                </a:solidFill>
                <a:latin typeface="Apple SD Gothic Neo"/>
                <a:ea typeface="Apple SD Gothic Neo"/>
                <a:cs typeface="Apple SD Gothic Neo"/>
              </a:rPr>
              <a:t>NVIDIA Korea Agentic AI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문제</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발전소가 멈추면, 비용이 크다</a:t>
            </a:r>
          </a:p>
        </p:txBody>
      </p:sp>
      <p:sp>
        <p:nvSpPr>
          <p:cNvPr id="4" name="Rounded Rectangle 3"/>
          <p:cNvSpPr/>
          <p:nvPr/>
        </p:nvSpPr>
        <p:spPr>
          <a:xfrm>
            <a:off x="731520"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연 1.4조 달러</a:t>
            </a:r>
          </a:p>
        </p:txBody>
      </p:sp>
      <p:sp>
        <p:nvSpPr>
          <p:cNvPr id="6" name="TextBox 5"/>
          <p:cNvSpPr txBox="1"/>
          <p:nvPr/>
        </p:nvSpPr>
        <p:spPr>
          <a:xfrm>
            <a:off x="1005840"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포춘 글로벌 500 기업이 비계획 정지로 잃는 비용</a:t>
            </a:r>
          </a:p>
        </p:txBody>
      </p:sp>
      <p:sp>
        <p:nvSpPr>
          <p:cNvPr id="7" name="Rounded Rectangle 6"/>
          <p:cNvSpPr/>
          <p:nvPr/>
        </p:nvSpPr>
        <p:spPr>
          <a:xfrm>
            <a:off x="6217919"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92239"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매출의 약 11%</a:t>
            </a:r>
          </a:p>
        </p:txBody>
      </p:sp>
      <p:sp>
        <p:nvSpPr>
          <p:cNvPr id="9" name="TextBox 8"/>
          <p:cNvSpPr txBox="1"/>
          <p:nvPr/>
        </p:nvSpPr>
        <p:spPr>
          <a:xfrm>
            <a:off x="6492239"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2019–2020년 약 8%에서 증가</a:t>
            </a:r>
          </a:p>
        </p:txBody>
      </p:sp>
      <p:sp>
        <p:nvSpPr>
          <p:cNvPr id="10" name="Rounded Rectangle 9"/>
          <p:cNvSpPr/>
          <p:nvPr/>
        </p:nvSpPr>
        <p:spPr>
          <a:xfrm>
            <a:off x="731520" y="4846320"/>
            <a:ext cx="10698480" cy="8229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846320"/>
            <a:ext cx="10058400" cy="82296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이상을 빨리 알아채고, 원인을 빨리 찾아야 한다</a:t>
            </a:r>
          </a:p>
        </p:txBody>
      </p:sp>
      <p:sp>
        <p:nvSpPr>
          <p:cNvPr id="12" name="TextBox 11"/>
          <p:cNvSpPr txBox="1"/>
          <p:nvPr/>
        </p:nvSpPr>
        <p:spPr>
          <a:xfrm>
            <a:off x="731520" y="5897880"/>
            <a:ext cx="10332720" cy="36576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출처: Siemens, The True Cost of Downtime 2024 · 대형 산업 전반 수치(발전소 한정 아님)</a:t>
            </a:r>
          </a:p>
        </p:txBody>
      </p:sp>
      <p:sp>
        <p:nvSpPr>
          <p:cNvPr id="13" name="TextBox 12"/>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판단이 어려운 이유</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왜 어려운가: 자료가 흩어져 있다</a:t>
            </a:r>
          </a:p>
        </p:txBody>
      </p:sp>
      <p:sp>
        <p:nvSpPr>
          <p:cNvPr id="4" name="Rounded Rectangle 3"/>
          <p:cNvSpPr/>
          <p:nvPr/>
        </p:nvSpPr>
        <p:spPr>
          <a:xfrm>
            <a:off x="731520" y="178308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도면  </a:t>
            </a:r>
            <a:r>
              <a:rPr sz="1700" b="0">
                <a:solidFill>
                  <a:srgbClr val="62736A"/>
                </a:solidFill>
                <a:latin typeface="Apple SD Gothic Neo"/>
                <a:ea typeface="Apple SD Gothic Neo"/>
                <a:cs typeface="Apple SD Gothic Neo"/>
              </a:rPr>
              <a:t>P&amp;ID · 로직 다이어그램</a:t>
            </a:r>
          </a:p>
        </p:txBody>
      </p:sp>
      <p:cxnSp>
        <p:nvCxnSpPr>
          <p:cNvPr id="5" name="Connector 4"/>
          <p:cNvCxnSpPr/>
          <p:nvPr/>
        </p:nvCxnSpPr>
        <p:spPr>
          <a:xfrm>
            <a:off x="4983480" y="2167128"/>
            <a:ext cx="1417320" cy="139903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274320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TM  </a:t>
            </a:r>
            <a:r>
              <a:rPr sz="1700" b="0">
                <a:solidFill>
                  <a:srgbClr val="62736A"/>
                </a:solidFill>
                <a:latin typeface="Apple SD Gothic Neo"/>
                <a:ea typeface="Apple SD Gothic Neo"/>
                <a:cs typeface="Apple SD Gothic Neo"/>
              </a:rPr>
              <a:t>과거 이상 신고</a:t>
            </a:r>
          </a:p>
        </p:txBody>
      </p:sp>
      <p:cxnSp>
        <p:nvCxnSpPr>
          <p:cNvPr id="7" name="Connector 6"/>
          <p:cNvCxnSpPr/>
          <p:nvPr/>
        </p:nvCxnSpPr>
        <p:spPr>
          <a:xfrm>
            <a:off x="4983480" y="3127248"/>
            <a:ext cx="1417320" cy="43891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1520" y="370332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WO  </a:t>
            </a:r>
            <a:r>
              <a:rPr sz="1700" b="0">
                <a:solidFill>
                  <a:srgbClr val="62736A"/>
                </a:solidFill>
                <a:latin typeface="Apple SD Gothic Neo"/>
                <a:ea typeface="Apple SD Gothic Neo"/>
                <a:cs typeface="Apple SD Gothic Neo"/>
              </a:rPr>
              <a:t>작업 지시 · 정비 기록</a:t>
            </a:r>
          </a:p>
        </p:txBody>
      </p:sp>
      <p:cxnSp>
        <p:nvCxnSpPr>
          <p:cNvPr id="9" name="Connector 8"/>
          <p:cNvCxnSpPr/>
          <p:nvPr/>
        </p:nvCxnSpPr>
        <p:spPr>
          <a:xfrm flipV="1">
            <a:off x="4983480" y="3566160"/>
            <a:ext cx="1417320" cy="52120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466344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트렌드  </a:t>
            </a:r>
            <a:r>
              <a:rPr sz="1700" b="0">
                <a:solidFill>
                  <a:srgbClr val="62736A"/>
                </a:solidFill>
                <a:latin typeface="Apple SD Gothic Neo"/>
                <a:ea typeface="Apple SD Gothic Neo"/>
                <a:cs typeface="Apple SD Gothic Neo"/>
              </a:rPr>
              <a:t>센서 시계열 데이터</a:t>
            </a:r>
          </a:p>
        </p:txBody>
      </p:sp>
      <p:cxnSp>
        <p:nvCxnSpPr>
          <p:cNvPr id="11" name="Connector 10"/>
          <p:cNvCxnSpPr/>
          <p:nvPr/>
        </p:nvCxnSpPr>
        <p:spPr>
          <a:xfrm flipV="1">
            <a:off x="4983480" y="3566160"/>
            <a:ext cx="1417320" cy="148132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46520" y="2926080"/>
            <a:ext cx="2194560" cy="1280160"/>
          </a:xfrm>
          <a:prstGeom prst="roundRect">
            <a:avLst>
              <a:gd name="adj" fmla="val 12000"/>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400" b="1">
                <a:solidFill>
                  <a:srgbClr val="FFFFFF"/>
                </a:solidFill>
                <a:latin typeface="Apple SD Gothic Neo"/>
                <a:ea typeface="Apple SD Gothic Neo"/>
                <a:cs typeface="Apple SD Gothic Neo"/>
              </a:rPr>
              <a:t>엔지니어</a:t>
            </a:r>
          </a:p>
        </p:txBody>
      </p:sp>
      <p:sp>
        <p:nvSpPr>
          <p:cNvPr id="13" name="TextBox 12"/>
          <p:cNvSpPr txBox="1"/>
          <p:nvPr/>
        </p:nvSpPr>
        <p:spPr>
          <a:xfrm>
            <a:off x="8961120" y="2743200"/>
            <a:ext cx="2743200" cy="1645920"/>
          </a:xfrm>
          <a:prstGeom prst="rect">
            <a:avLst/>
          </a:prstGeom>
          <a:noFill/>
        </p:spPr>
        <p:txBody>
          <a:bodyPr wrap="square" lIns="18288" rIns="18288" tIns="18288" bIns="18288" anchor="ctr">
            <a:spAutoFit/>
          </a:bodyPr>
          <a:lstStyle/>
          <a:p>
            <a:pPr algn="l">
              <a:lnSpc>
                <a:spcPct val="115000"/>
              </a:lnSpc>
            </a:pPr>
            <a:r>
              <a:rPr sz="2200" b="0">
                <a:solidFill>
                  <a:srgbClr val="62736A"/>
                </a:solidFill>
                <a:latin typeface="Apple SD Gothic Neo"/>
                <a:ea typeface="Apple SD Gothic Neo"/>
                <a:cs typeface="Apple SD Gothic Neo"/>
              </a:rPr>
              <a:t>하나씩 열어</a:t>
            </a:r>
          </a:p>
          <a:p>
            <a:pPr algn="l">
              <a:lnSpc>
                <a:spcPct val="115000"/>
              </a:lnSpc>
            </a:pPr>
            <a:r>
              <a:rPr sz="2200" b="0">
                <a:solidFill>
                  <a:srgbClr val="62736A"/>
                </a:solidFill>
                <a:latin typeface="Apple SD Gothic Neo"/>
                <a:ea typeface="Apple SD Gothic Neo"/>
                <a:cs typeface="Apple SD Gothic Neo"/>
              </a:rPr>
              <a:t>머릿속에서</a:t>
            </a:r>
          </a:p>
          <a:p>
            <a:pPr algn="l">
              <a:lnSpc>
                <a:spcPct val="115000"/>
              </a:lnSpc>
            </a:pPr>
            <a:r>
              <a:rPr sz="2200" b="0">
                <a:solidFill>
                  <a:srgbClr val="62736A"/>
                </a:solidFill>
                <a:latin typeface="Apple SD Gothic Neo"/>
                <a:ea typeface="Apple SD Gothic Neo"/>
                <a:cs typeface="Apple SD Gothic Neo"/>
              </a:rPr>
              <a:t>연결한다</a:t>
            </a:r>
          </a:p>
        </p:txBody>
      </p:sp>
      <p:sp>
        <p:nvSpPr>
          <p:cNvPr id="14" name="Rounded Rectangle 13"/>
          <p:cNvSpPr/>
          <p:nvPr/>
        </p:nvSpPr>
        <p:spPr>
          <a:xfrm>
            <a:off x="731520" y="5669280"/>
            <a:ext cx="10698480" cy="5943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5669280"/>
            <a:ext cx="10058400" cy="594360"/>
          </a:xfrm>
          <a:prstGeom prst="rect">
            <a:avLst/>
          </a:prstGeom>
          <a:noFill/>
        </p:spPr>
        <p:txBody>
          <a:bodyPr wrap="square" lIns="18288" rIns="18288" tIns="18288" bIns="18288" anchor="ctr">
            <a:spAutoFit/>
          </a:bodyPr>
          <a:lstStyle/>
          <a:p>
            <a:pPr algn="l">
              <a:lnSpc>
                <a:spcPct val="115000"/>
              </a:lnSpc>
            </a:pPr>
            <a:r>
              <a:rPr sz="2100" b="0">
                <a:solidFill>
                  <a:srgbClr val="172B27"/>
                </a:solidFill>
                <a:latin typeface="Apple SD Gothic Neo"/>
                <a:ea typeface="Apple SD Gothic Neo"/>
                <a:cs typeface="Apple SD Gothic Neo"/>
              </a:rPr>
              <a:t>계측이 정상처럼 보이면 </a:t>
            </a:r>
            <a:r>
              <a:rPr sz="2100" b="1">
                <a:solidFill>
                  <a:srgbClr val="D06B3D"/>
                </a:solidFill>
                <a:latin typeface="Apple SD Gothic Neo"/>
                <a:ea typeface="Apple SD Gothic Neo"/>
                <a:cs typeface="Apple SD Gothic Neo"/>
              </a:rPr>
              <a:t>더 어렵다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제약</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보안 때문에 클라우드 AI는 어렵다</a:t>
            </a:r>
          </a:p>
        </p:txBody>
      </p:sp>
      <p:sp>
        <p:nvSpPr>
          <p:cNvPr id="4" name="Rounded Rectangle 3"/>
          <p:cNvSpPr/>
          <p:nvPr/>
        </p:nvSpPr>
        <p:spPr>
          <a:xfrm>
            <a:off x="731520" y="1920240"/>
            <a:ext cx="3017520" cy="1371600"/>
          </a:xfrm>
          <a:prstGeom prst="roundRect">
            <a:avLst>
              <a:gd name="adj" fmla="val 12000"/>
            </a:avLst>
          </a:prstGeom>
          <a:solidFill>
            <a:srgbClr val="FFFFFF"/>
          </a:solidFill>
          <a:ln w="2540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0">
                <a:solidFill>
                  <a:srgbClr val="172B27"/>
                </a:solidFill>
                <a:latin typeface="Apple SD Gothic Neo"/>
                <a:ea typeface="Apple SD Gothic Neo"/>
                <a:cs typeface="Apple SD Gothic Neo"/>
              </a:rPr>
              <a:t>제어·운영망은</a:t>
            </a:r>
          </a:p>
          <a:p>
            <a:pPr algn="ctr">
              <a:lnSpc>
                <a:spcPct val="115000"/>
              </a:lnSpc>
            </a:pPr>
            <a:r>
              <a:rPr sz="2000" b="0">
                <a:solidFill>
                  <a:srgbClr val="172B27"/>
                </a:solidFill>
                <a:latin typeface="Apple SD Gothic Neo"/>
                <a:ea typeface="Apple SD Gothic Neo"/>
                <a:cs typeface="Apple SD Gothic Neo"/>
              </a:rPr>
              <a:t>외부망과 분리·통제</a:t>
            </a:r>
          </a:p>
        </p:txBody>
      </p:sp>
      <p:cxnSp>
        <p:nvCxnSpPr>
          <p:cNvPr id="5" name="Connector 4"/>
          <p:cNvCxnSpPr/>
          <p:nvPr/>
        </p:nvCxnSpPr>
        <p:spPr>
          <a:xfrm>
            <a:off x="3794760" y="2606040"/>
            <a:ext cx="7772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17720" y="1920240"/>
            <a:ext cx="3017520" cy="13716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현장 내부 설치</a:t>
            </a:r>
          </a:p>
          <a:p>
            <a:pPr algn="ctr">
              <a:lnSpc>
                <a:spcPct val="115000"/>
              </a:lnSpc>
            </a:pPr>
            <a:r>
              <a:rPr sz="2100" b="1">
                <a:solidFill>
                  <a:srgbClr val="FFFFFF"/>
                </a:solidFill>
                <a:latin typeface="Apple SD Gothic Neo"/>
                <a:ea typeface="Apple SD Gothic Neo"/>
                <a:cs typeface="Apple SD Gothic Neo"/>
              </a:rPr>
              <a:t>모델 필요</a:t>
            </a:r>
          </a:p>
        </p:txBody>
      </p:sp>
      <p:cxnSp>
        <p:nvCxnSpPr>
          <p:cNvPr id="7" name="Connector 6"/>
          <p:cNvCxnSpPr/>
          <p:nvPr/>
        </p:nvCxnSpPr>
        <p:spPr>
          <a:xfrm>
            <a:off x="7680960" y="2606040"/>
            <a:ext cx="777240" cy="0"/>
          </a:xfrm>
          <a:prstGeom prst="line">
            <a:avLst/>
          </a:prstGeom>
          <a:ln w="38100">
            <a:solidFill>
              <a:srgbClr val="76B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503920" y="1920240"/>
            <a:ext cx="2926080" cy="137160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NVIDIA Nemotron</a:t>
            </a:r>
          </a:p>
          <a:p>
            <a:pPr algn="ctr">
              <a:lnSpc>
                <a:spcPct val="115000"/>
              </a:lnSpc>
            </a:pPr>
            <a:r>
              <a:rPr sz="2100" b="1">
                <a:solidFill>
                  <a:srgbClr val="FFFFFF"/>
                </a:solidFill>
                <a:latin typeface="Apple SD Gothic Neo"/>
                <a:ea typeface="Apple SD Gothic Neo"/>
                <a:cs typeface="Apple SD Gothic Neo"/>
              </a:rPr>
              <a:t>+ DGX Spark</a:t>
            </a:r>
          </a:p>
        </p:txBody>
      </p:sp>
      <p:sp>
        <p:nvSpPr>
          <p:cNvPr id="9" name="Rounded Rectangle 8"/>
          <p:cNvSpPr/>
          <p:nvPr/>
        </p:nvSpPr>
        <p:spPr>
          <a:xfrm>
            <a:off x="731520" y="3657600"/>
            <a:ext cx="10698480" cy="233172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05840" y="3794760"/>
            <a:ext cx="1014984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평가 모델  </a:t>
            </a: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  · 전체 550B / 동작 55B (MoE)</a:t>
            </a:r>
          </a:p>
        </p:txBody>
      </p:sp>
      <p:sp>
        <p:nvSpPr>
          <p:cNvPr id="11" name="TextBox 10"/>
          <p:cNvSpPr txBox="1"/>
          <p:nvPr/>
        </p:nvSpPr>
        <p:spPr>
          <a:xfrm>
            <a:off x="100584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Ultra 550B · 평가 모델</a:t>
            </a:r>
          </a:p>
        </p:txBody>
      </p:sp>
      <p:sp>
        <p:nvSpPr>
          <p:cNvPr id="12" name="TextBox 11"/>
          <p:cNvSpPr txBox="1"/>
          <p:nvPr/>
        </p:nvSpPr>
        <p:spPr>
          <a:xfrm>
            <a:off x="100584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약 4대</a:t>
            </a:r>
          </a:p>
        </p:txBody>
      </p:sp>
      <p:sp>
        <p:nvSpPr>
          <p:cNvPr id="13" name="TextBox 12"/>
          <p:cNvSpPr txBox="1"/>
          <p:nvPr/>
        </p:nvSpPr>
        <p:spPr>
          <a:xfrm>
            <a:off x="100584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330–358GB(NVFP4 + 여유) · 최소 3대, 권장 4대 · 추정</a:t>
            </a:r>
          </a:p>
        </p:txBody>
      </p:sp>
      <p:sp>
        <p:nvSpPr>
          <p:cNvPr id="14" name="TextBox 13"/>
          <p:cNvSpPr txBox="1"/>
          <p:nvPr/>
        </p:nvSpPr>
        <p:spPr>
          <a:xfrm>
            <a:off x="621792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Super 120B · 가벼운 대안(미평가)</a:t>
            </a:r>
          </a:p>
        </p:txBody>
      </p:sp>
      <p:sp>
        <p:nvSpPr>
          <p:cNvPr id="15" name="TextBox 14"/>
          <p:cNvSpPr txBox="1"/>
          <p:nvPr/>
        </p:nvSpPr>
        <p:spPr>
          <a:xfrm>
            <a:off x="621792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1대</a:t>
            </a:r>
          </a:p>
        </p:txBody>
      </p:sp>
      <p:sp>
        <p:nvSpPr>
          <p:cNvPr id="16" name="TextBox 15"/>
          <p:cNvSpPr txBox="1"/>
          <p:nvPr/>
        </p:nvSpPr>
        <p:spPr>
          <a:xfrm>
            <a:off x="621792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72–78GB · Spark 1대 메모리 128GB</a:t>
            </a:r>
          </a:p>
        </p:txBody>
      </p:sp>
      <p:sp>
        <p:nvSpPr>
          <p:cNvPr id="17" name="TextBox 16"/>
          <p:cNvSpPr txBox="1"/>
          <p:nvPr/>
        </p:nvSpPr>
        <p:spPr>
          <a:xfrm>
            <a:off x="731520" y="6080760"/>
            <a:ext cx="10698480" cy="27432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DGX Spark 128GB 통합 메모리(NVIDIA 공식) · 대수는 저희 계산 · 예: 북미 NERC CIP-005 전자 보안 경계 · 국내 국가 망 보안체계(N2SF)</a:t>
            </a:r>
          </a:p>
        </p:txBody>
      </p:sp>
      <p:sp>
        <p:nvSpPr>
          <p:cNvPr id="18" name="TextBox 1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System 1 · System 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해법: 빠른 감시 + 깊은 조사</a:t>
            </a:r>
          </a:p>
        </p:txBody>
      </p:sp>
      <p:sp>
        <p:nvSpPr>
          <p:cNvPr id="4" name="Rounded Rectangle 3"/>
          <p:cNvSpPr/>
          <p:nvPr/>
        </p:nvSpPr>
        <p:spPr>
          <a:xfrm>
            <a:off x="731520" y="1783080"/>
            <a:ext cx="5166360" cy="3520440"/>
          </a:xfrm>
          <a:prstGeom prst="roundRect">
            <a:avLst>
              <a:gd name="adj" fmla="val 12000"/>
            </a:avLst>
          </a:prstGeom>
          <a:solidFill>
            <a:srgbClr val="FFFFFF"/>
          </a:solidFill>
          <a:ln w="19050">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1 · 상시 감시</a:t>
            </a:r>
          </a:p>
        </p:txBody>
      </p:sp>
      <p:sp>
        <p:nvSpPr>
          <p:cNvPr id="6" name="TextBox 5"/>
          <p:cNvSpPr txBox="1"/>
          <p:nvPr/>
        </p:nvSpPr>
        <p:spPr>
          <a:xfrm>
            <a:off x="1005840"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항상 켜짐</a:t>
            </a:r>
          </a:p>
          <a:p>
            <a:pPr algn="l">
              <a:lnSpc>
                <a:spcPct val="115000"/>
              </a:lnSpc>
            </a:pPr>
            <a:r>
              <a:rPr sz="2000" b="0">
                <a:solidFill>
                  <a:srgbClr val="172B27"/>
                </a:solidFill>
                <a:latin typeface="Apple SD Gothic Neo"/>
                <a:ea typeface="Apple SD Gothic Neo"/>
                <a:cs typeface="Apple SD Gothic Neo"/>
              </a:rPr>
              <a:t>트렌드 감시 · 알람</a:t>
            </a:r>
          </a:p>
          <a:p>
            <a:pPr algn="l">
              <a:lnSpc>
                <a:spcPct val="115000"/>
              </a:lnSpc>
            </a:pPr>
            <a:r>
              <a:rPr sz="2000" b="0">
                <a:solidFill>
                  <a:srgbClr val="172B27"/>
                </a:solidFill>
                <a:latin typeface="Apple SD Gothic Neo"/>
                <a:ea typeface="Apple SD Gothic Neo"/>
                <a:cs typeface="Apple SD Gothic Neo"/>
              </a:rPr>
              <a:t>가볍고 빠르게</a:t>
            </a:r>
          </a:p>
        </p:txBody>
      </p:sp>
      <p:sp>
        <p:nvSpPr>
          <p:cNvPr id="7" name="TextBox 6"/>
          <p:cNvSpPr txBox="1"/>
          <p:nvPr/>
        </p:nvSpPr>
        <p:spPr>
          <a:xfrm>
            <a:off x="1005840"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Nano (후보)</a:t>
            </a:r>
          </a:p>
        </p:txBody>
      </p:sp>
      <p:sp>
        <p:nvSpPr>
          <p:cNvPr id="8" name="Rounded Rectangle 7"/>
          <p:cNvSpPr/>
          <p:nvPr/>
        </p:nvSpPr>
        <p:spPr>
          <a:xfrm>
            <a:off x="1005840" y="4572000"/>
            <a:ext cx="4617720" cy="50292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0">
                <a:solidFill>
                  <a:srgbClr val="172B27"/>
                </a:solidFill>
                <a:latin typeface="Apple SD Gothic Neo"/>
                <a:ea typeface="Apple SD Gothic Neo"/>
                <a:cs typeface="Apple SD Gothic Neo"/>
              </a:rPr>
              <a:t>설계 · 이전 실험</a:t>
            </a:r>
          </a:p>
        </p:txBody>
      </p:sp>
      <p:sp>
        <p:nvSpPr>
          <p:cNvPr id="9" name="Rounded Rectangle 8"/>
          <p:cNvSpPr/>
          <p:nvPr/>
        </p:nvSpPr>
        <p:spPr>
          <a:xfrm>
            <a:off x="6263640" y="1783080"/>
            <a:ext cx="5166360" cy="352044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37959"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2 · 원인 조사</a:t>
            </a:r>
          </a:p>
        </p:txBody>
      </p:sp>
      <p:sp>
        <p:nvSpPr>
          <p:cNvPr id="11" name="TextBox 10"/>
          <p:cNvSpPr txBox="1"/>
          <p:nvPr/>
        </p:nvSpPr>
        <p:spPr>
          <a:xfrm>
            <a:off x="6537959"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문제 발생 시 실행</a:t>
            </a:r>
          </a:p>
          <a:p>
            <a:pPr algn="l">
              <a:lnSpc>
                <a:spcPct val="115000"/>
              </a:lnSpc>
            </a:pPr>
            <a:r>
              <a:rPr sz="2000" b="0">
                <a:solidFill>
                  <a:srgbClr val="172B27"/>
                </a:solidFill>
                <a:latin typeface="Apple SD Gothic Neo"/>
                <a:ea typeface="Apple SD Gothic Neo"/>
                <a:cs typeface="Apple SD Gothic Neo"/>
              </a:rPr>
              <a:t>도면·TM·WO·트렌드 연결</a:t>
            </a:r>
          </a:p>
          <a:p>
            <a:pPr algn="l">
              <a:lnSpc>
                <a:spcPct val="115000"/>
              </a:lnSpc>
            </a:pPr>
            <a:r>
              <a:rPr sz="2000" b="0">
                <a:solidFill>
                  <a:srgbClr val="172B27"/>
                </a:solidFill>
                <a:latin typeface="Apple SD Gothic Neo"/>
                <a:ea typeface="Apple SD Gothic Neo"/>
                <a:cs typeface="Apple SD Gothic Neo"/>
              </a:rPr>
              <a:t>원인 · 다음 점검 제안</a:t>
            </a:r>
          </a:p>
        </p:txBody>
      </p:sp>
      <p:sp>
        <p:nvSpPr>
          <p:cNvPr id="12" name="TextBox 11"/>
          <p:cNvSpPr txBox="1"/>
          <p:nvPr/>
        </p:nvSpPr>
        <p:spPr>
          <a:xfrm>
            <a:off x="6537959"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3 Ultra</a:t>
            </a:r>
          </a:p>
        </p:txBody>
      </p:sp>
      <p:sp>
        <p:nvSpPr>
          <p:cNvPr id="13" name="Rounded Rectangle 12"/>
          <p:cNvSpPr/>
          <p:nvPr/>
        </p:nvSpPr>
        <p:spPr>
          <a:xfrm>
            <a:off x="6537959" y="4572000"/>
            <a:ext cx="4617720" cy="50292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1">
                <a:solidFill>
                  <a:srgbClr val="FFFFFF"/>
                </a:solidFill>
                <a:latin typeface="Apple SD Gothic Neo"/>
                <a:ea typeface="Apple SD Gothic Neo"/>
                <a:cs typeface="Apple SD Gothic Neo"/>
              </a:rPr>
              <a:t>구현 · 오늘 데모</a:t>
            </a:r>
          </a:p>
        </p:txBody>
      </p:sp>
      <p:cxnSp>
        <p:nvCxnSpPr>
          <p:cNvPr id="14" name="Connector 13"/>
          <p:cNvCxnSpPr/>
          <p:nvPr/>
        </p:nvCxnSpPr>
        <p:spPr>
          <a:xfrm>
            <a:off x="5916168" y="3108960"/>
            <a:ext cx="329184"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5532120"/>
            <a:ext cx="10698480" cy="68580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5532120"/>
            <a:ext cx="10241280" cy="685800"/>
          </a:xfrm>
          <a:prstGeom prst="rect">
            <a:avLst/>
          </a:prstGeom>
          <a:noFill/>
        </p:spPr>
        <p:txBody>
          <a:bodyPr wrap="square" lIns="18288" rIns="18288" tIns="18288" bIns="18288" anchor="ctr">
            <a:spAutoFit/>
          </a:bodyPr>
          <a:lstStyle/>
          <a:p>
            <a:pPr algn="l">
              <a:lnSpc>
                <a:spcPct val="115000"/>
              </a:lnSpc>
            </a:pPr>
            <a:r>
              <a:rPr sz="2100" b="1">
                <a:solidFill>
                  <a:srgbClr val="D06B3D"/>
                </a:solidFill>
                <a:latin typeface="Apple SD Gothic Neo"/>
                <a:ea typeface="Apple SD Gothic Neo"/>
                <a:cs typeface="Apple SD Gothic Neo"/>
              </a:rPr>
              <a:t>왜 나누나  </a:t>
            </a:r>
            <a:r>
              <a:rPr sz="2100" b="0">
                <a:solidFill>
                  <a:srgbClr val="172B27"/>
                </a:solidFill>
                <a:latin typeface="Apple SD Gothic Neo"/>
                <a:ea typeface="Apple SD Gothic Neo"/>
                <a:cs typeface="Apple SD Gothic Neo"/>
              </a:rPr>
              <a:t>상시 감시는 빠르게, 원인 조사는 깊게</a:t>
            </a:r>
          </a:p>
        </p:txBody>
      </p:sp>
      <p:sp>
        <p:nvSpPr>
          <p:cNvPr id="17" name="TextBox 1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전체 구조</a:t>
            </a:r>
          </a:p>
        </p:txBody>
      </p:sp>
      <p:pic>
        <p:nvPicPr>
          <p:cNvPr id="3" name="Picture 2" descr="architecture.png"/>
          <p:cNvPicPr>
            <a:picLocks noChangeAspect="1"/>
          </p:cNvPicPr>
          <p:nvPr/>
        </p:nvPicPr>
        <p:blipFill>
          <a:blip r:embed="rId3"/>
          <a:stretch>
            <a:fillRect/>
          </a:stretch>
        </p:blipFill>
        <p:spPr>
          <a:xfrm>
            <a:off x="1737360" y="1554480"/>
            <a:ext cx="8696960" cy="4892040"/>
          </a:xfrm>
          <a:prstGeom prst="rect">
            <a:avLst/>
          </a:prstGeom>
        </p:spPr>
      </p:pic>
      <p:sp>
        <p:nvSpPr>
          <p:cNvPr id="4" name="TextBox 3"/>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설계 부하 · 계산값</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System 1이 감당할 양</a:t>
            </a:r>
          </a:p>
        </p:txBody>
      </p:sp>
      <p:sp>
        <p:nvSpPr>
          <p:cNvPr id="4" name="Rounded Rectangle 3"/>
          <p:cNvSpPr/>
          <p:nvPr/>
        </p:nvSpPr>
        <p:spPr>
          <a:xfrm>
            <a:off x="731520"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14400"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50,000</a:t>
            </a:r>
          </a:p>
        </p:txBody>
      </p:sp>
      <p:sp>
        <p:nvSpPr>
          <p:cNvPr id="6" name="TextBox 5"/>
          <p:cNvSpPr txBox="1"/>
          <p:nvPr/>
        </p:nvSpPr>
        <p:spPr>
          <a:xfrm>
            <a:off x="914400"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신호</a:t>
            </a:r>
          </a:p>
        </p:txBody>
      </p:sp>
      <p:sp>
        <p:nvSpPr>
          <p:cNvPr id="7" name="Rounded Rectangle 6"/>
          <p:cNvSpPr/>
          <p:nvPr/>
        </p:nvSpPr>
        <p:spPr>
          <a:xfrm>
            <a:off x="3447288"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630168"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100 ms</a:t>
            </a:r>
          </a:p>
        </p:txBody>
      </p:sp>
      <p:sp>
        <p:nvSpPr>
          <p:cNvPr id="9" name="TextBox 8"/>
          <p:cNvSpPr txBox="1"/>
          <p:nvPr/>
        </p:nvSpPr>
        <p:spPr>
          <a:xfrm>
            <a:off x="3630168"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갱신 주기</a:t>
            </a:r>
          </a:p>
        </p:txBody>
      </p:sp>
      <p:sp>
        <p:nvSpPr>
          <p:cNvPr id="10" name="Rounded Rectangle 9"/>
          <p:cNvSpPr/>
          <p:nvPr/>
        </p:nvSpPr>
        <p:spPr>
          <a:xfrm>
            <a:off x="6163056"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45936"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50만/초</a:t>
            </a:r>
          </a:p>
        </p:txBody>
      </p:sp>
      <p:sp>
        <p:nvSpPr>
          <p:cNvPr id="12" name="TextBox 11"/>
          <p:cNvSpPr txBox="1"/>
          <p:nvPr/>
        </p:nvSpPr>
        <p:spPr>
          <a:xfrm>
            <a:off x="6345936"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관측값</a:t>
            </a:r>
          </a:p>
        </p:txBody>
      </p:sp>
      <p:sp>
        <p:nvSpPr>
          <p:cNvPr id="13" name="Rounded Rectangle 12"/>
          <p:cNvSpPr/>
          <p:nvPr/>
        </p:nvSpPr>
        <p:spPr>
          <a:xfrm>
            <a:off x="8878824"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61704"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691 GB/일</a:t>
            </a:r>
          </a:p>
        </p:txBody>
      </p:sp>
      <p:sp>
        <p:nvSpPr>
          <p:cNvPr id="15" name="TextBox 14"/>
          <p:cNvSpPr txBox="1"/>
          <p:nvPr/>
        </p:nvSpPr>
        <p:spPr>
          <a:xfrm>
            <a:off x="9061704"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값+시각 16바이트 기준</a:t>
            </a:r>
          </a:p>
        </p:txBody>
      </p:sp>
      <p:sp>
        <p:nvSpPr>
          <p:cNvPr id="16" name="Rounded Rectangle 15"/>
          <p:cNvSpPr/>
          <p:nvPr/>
        </p:nvSpPr>
        <p:spPr>
          <a:xfrm>
            <a:off x="731520" y="3657600"/>
            <a:ext cx="3200400" cy="1143000"/>
          </a:xfrm>
          <a:prstGeom prst="roundRect">
            <a:avLst>
              <a:gd name="adj" fmla="val 12000"/>
            </a:avLst>
          </a:prstGeom>
          <a:solidFill>
            <a:srgbClr val="FFFFFF"/>
          </a:solidFill>
          <a:ln w="2222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시계열 코드</a:t>
            </a:r>
          </a:p>
          <a:p>
            <a:pPr algn="ctr">
              <a:lnSpc>
                <a:spcPct val="115000"/>
              </a:lnSpc>
            </a:pPr>
            <a:r>
              <a:rPr sz="1600" b="0">
                <a:solidFill>
                  <a:srgbClr val="172B27"/>
                </a:solidFill>
                <a:latin typeface="Apple SD Gothic Neo"/>
                <a:ea typeface="Apple SD Gothic Neo"/>
                <a:cs typeface="Apple SD Gothic Neo"/>
              </a:rPr>
              <a:t>요약 · 후보 추출</a:t>
            </a:r>
          </a:p>
        </p:txBody>
      </p:sp>
      <p:cxnSp>
        <p:nvCxnSpPr>
          <p:cNvPr id="17" name="Connector 16"/>
          <p:cNvCxnSpPr/>
          <p:nvPr/>
        </p:nvCxnSpPr>
        <p:spPr>
          <a:xfrm>
            <a:off x="397763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3657600"/>
            <a:ext cx="3200400" cy="1143000"/>
          </a:xfrm>
          <a:prstGeom prst="roundRect">
            <a:avLst>
              <a:gd name="adj" fmla="val 12000"/>
            </a:avLst>
          </a:prstGeom>
          <a:solidFill>
            <a:srgbClr val="FFFFFF"/>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Nano</a:t>
            </a:r>
          </a:p>
          <a:p>
            <a:pPr algn="ctr">
              <a:lnSpc>
                <a:spcPct val="115000"/>
              </a:lnSpc>
            </a:pPr>
            <a:r>
              <a:rPr sz="1600" b="0">
                <a:solidFill>
                  <a:srgbClr val="172B27"/>
                </a:solidFill>
                <a:latin typeface="Apple SD Gothic Neo"/>
                <a:ea typeface="Apple SD Gothic Neo"/>
                <a:cs typeface="Apple SD Gothic Neo"/>
              </a:rPr>
              <a:t>사건 묶기 · 우선순위</a:t>
            </a:r>
          </a:p>
        </p:txBody>
      </p:sp>
      <p:cxnSp>
        <p:nvCxnSpPr>
          <p:cNvPr id="19" name="Connector 18"/>
          <p:cNvCxnSpPr/>
          <p:nvPr/>
        </p:nvCxnSpPr>
        <p:spPr>
          <a:xfrm>
            <a:off x="768095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57600"/>
            <a:ext cx="3200400" cy="1143000"/>
          </a:xfrm>
          <a:prstGeom prst="roundRect">
            <a:avLst>
              <a:gd name="adj" fmla="val 12000"/>
            </a:avLst>
          </a:prstGeom>
          <a:solidFill>
            <a:srgbClr val="76B900"/>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Ultra</a:t>
            </a:r>
          </a:p>
          <a:p>
            <a:pPr algn="ctr">
              <a:lnSpc>
                <a:spcPct val="115000"/>
              </a:lnSpc>
            </a:pPr>
            <a:r>
              <a:rPr sz="1600" b="0">
                <a:solidFill>
                  <a:srgbClr val="FFFFFF"/>
                </a:solidFill>
                <a:latin typeface="Apple SD Gothic Neo"/>
                <a:ea typeface="Apple SD Gothic Neo"/>
                <a:cs typeface="Apple SD Gothic Neo"/>
              </a:rPr>
              <a:t>선별된 사건만 조사</a:t>
            </a:r>
          </a:p>
        </p:txBody>
      </p:sp>
      <p:sp>
        <p:nvSpPr>
          <p:cNvPr id="21" name="TextBox 20"/>
          <p:cNvSpPr txBox="1"/>
          <p:nvPr/>
        </p:nvSpPr>
        <p:spPr>
          <a:xfrm>
            <a:off x="731520" y="5074920"/>
            <a:ext cx="10698480" cy="1097280"/>
          </a:xfrm>
          <a:prstGeom prst="rect">
            <a:avLst/>
          </a:prstGeom>
          <a:noFill/>
        </p:spPr>
        <p:txBody>
          <a:bodyPr wrap="square" lIns="18288" rIns="18288" tIns="18288" bIns="18288" anchor="t">
            <a:spAutoFit/>
          </a:bodyPr>
          <a:lstStyle/>
          <a:p>
            <a:pPr algn="l">
              <a:lnSpc>
                <a:spcPct val="115000"/>
              </a:lnSpc>
            </a:pPr>
            <a:r>
              <a:rPr sz="2100" b="1">
                <a:solidFill>
                  <a:srgbClr val="172B27"/>
                </a:solidFill>
                <a:latin typeface="Apple SD Gothic Neo"/>
                <a:ea typeface="Apple SD Gothic Neo"/>
                <a:cs typeface="Apple SD Gothic Neo"/>
              </a:rPr>
              <a:t>원시 데이터를 전부 큰 모델에 보내지 않는다</a:t>
            </a:r>
          </a:p>
          <a:p>
            <a:pPr algn="l">
              <a:lnSpc>
                <a:spcPct val="115000"/>
              </a:lnSpc>
            </a:pPr>
            <a:r>
              <a:rPr sz="1600" b="0">
                <a:solidFill>
                  <a:srgbClr val="62736A"/>
                </a:solidFill>
                <a:latin typeface="Apple SD Gothic Neo"/>
                <a:ea typeface="Apple SD Gothic Neo"/>
                <a:cs typeface="Apple SD Gothic Neo"/>
              </a:rPr>
              <a:t>현재 로컬 Nano 요청 6.3~11.5초 → 병목 가능, 부하 시험이 다음 과제</a:t>
            </a:r>
          </a:p>
        </p:txBody>
      </p:sp>
      <p:sp>
        <p:nvSpPr>
          <p:cNvPr id="22" name="TextBox 2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고객 데이터는 비공개 → 공개 데이터로 벤치마크 구성</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데이터: 공개 PreDist v2 (지역난방)</a:t>
            </a:r>
          </a:p>
        </p:txBody>
      </p:sp>
      <p:sp>
        <p:nvSpPr>
          <p:cNvPr id="4" name="Rounded Rectangle 3"/>
          <p:cNvSpPr/>
          <p:nvPr/>
        </p:nvSpPr>
        <p:spPr>
          <a:xfrm>
            <a:off x="731520"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열 생산 시설</a:t>
            </a:r>
          </a:p>
        </p:txBody>
      </p:sp>
      <p:cxnSp>
        <p:nvCxnSpPr>
          <p:cNvPr id="5" name="Connector 4"/>
          <p:cNvCxnSpPr/>
          <p:nvPr/>
        </p:nvCxnSpPr>
        <p:spPr>
          <a:xfrm>
            <a:off x="2596896" y="2715768"/>
            <a:ext cx="310895"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944368"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도시 배관</a:t>
            </a:r>
          </a:p>
          <a:p>
            <a:pPr algn="ctr">
              <a:lnSpc>
                <a:spcPct val="115000"/>
              </a:lnSpc>
            </a:pPr>
            <a:r>
              <a:rPr sz="1900" b="0">
                <a:solidFill>
                  <a:srgbClr val="172B27"/>
                </a:solidFill>
                <a:latin typeface="Apple SD Gothic Neo"/>
                <a:ea typeface="Apple SD Gothic Neo"/>
                <a:cs typeface="Apple SD Gothic Neo"/>
              </a:rPr>
              <a:t>(1차)</a:t>
            </a:r>
          </a:p>
        </p:txBody>
      </p:sp>
      <p:cxnSp>
        <p:nvCxnSpPr>
          <p:cNvPr id="7" name="Connector 6"/>
          <p:cNvCxnSpPr/>
          <p:nvPr/>
        </p:nvCxnSpPr>
        <p:spPr>
          <a:xfrm>
            <a:off x="4809744"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57216" y="2148840"/>
            <a:ext cx="1828800" cy="11430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1">
                <a:solidFill>
                  <a:srgbClr val="FFFFFF"/>
                </a:solidFill>
                <a:latin typeface="Apple SD Gothic Neo"/>
                <a:ea typeface="Apple SD Gothic Neo"/>
                <a:cs typeface="Apple SD Gothic Neo"/>
              </a:rPr>
              <a:t>서브스테이션</a:t>
            </a:r>
          </a:p>
          <a:p>
            <a:pPr algn="ctr">
              <a:lnSpc>
                <a:spcPct val="115000"/>
              </a:lnSpc>
            </a:pPr>
            <a:r>
              <a:rPr sz="1900" b="1">
                <a:solidFill>
                  <a:srgbClr val="FFFFFF"/>
                </a:solidFill>
                <a:latin typeface="Apple SD Gothic Neo"/>
                <a:ea typeface="Apple SD Gothic Neo"/>
                <a:cs typeface="Apple SD Gothic Neo"/>
              </a:rPr>
              <a:t>(열교환)</a:t>
            </a:r>
          </a:p>
        </p:txBody>
      </p:sp>
      <p:cxnSp>
        <p:nvCxnSpPr>
          <p:cNvPr id="9" name="Connector 8"/>
          <p:cNvCxnSpPr/>
          <p:nvPr/>
        </p:nvCxnSpPr>
        <p:spPr>
          <a:xfrm>
            <a:off x="7022592"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70064"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건물 배관</a:t>
            </a:r>
          </a:p>
          <a:p>
            <a:pPr algn="ctr">
              <a:lnSpc>
                <a:spcPct val="115000"/>
              </a:lnSpc>
            </a:pPr>
            <a:r>
              <a:rPr sz="1900" b="0">
                <a:solidFill>
                  <a:srgbClr val="172B27"/>
                </a:solidFill>
                <a:latin typeface="Apple SD Gothic Neo"/>
                <a:ea typeface="Apple SD Gothic Neo"/>
                <a:cs typeface="Apple SD Gothic Neo"/>
              </a:rPr>
              <a:t>(2차)</a:t>
            </a:r>
          </a:p>
        </p:txBody>
      </p:sp>
      <p:cxnSp>
        <p:nvCxnSpPr>
          <p:cNvPr id="11" name="Connector 10"/>
          <p:cNvCxnSpPr/>
          <p:nvPr/>
        </p:nvCxnSpPr>
        <p:spPr>
          <a:xfrm>
            <a:off x="9235440"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82912"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집 안</a:t>
            </a:r>
          </a:p>
          <a:p>
            <a:pPr algn="ctr">
              <a:lnSpc>
                <a:spcPct val="115000"/>
              </a:lnSpc>
            </a:pPr>
            <a:r>
              <a:rPr sz="1900" b="0">
                <a:solidFill>
                  <a:srgbClr val="172B27"/>
                </a:solidFill>
                <a:latin typeface="Apple SD Gothic Neo"/>
                <a:ea typeface="Apple SD Gothic Neo"/>
                <a:cs typeface="Apple SD Gothic Neo"/>
              </a:rPr>
              <a:t>라디에이터</a:t>
            </a:r>
          </a:p>
        </p:txBody>
      </p:sp>
      <p:cxnSp>
        <p:nvCxnSpPr>
          <p:cNvPr id="13" name="Connector 12"/>
          <p:cNvCxnSpPr/>
          <p:nvPr/>
        </p:nvCxnSpPr>
        <p:spPr>
          <a:xfrm>
            <a:off x="6071616" y="3337560"/>
            <a:ext cx="0" cy="411479"/>
          </a:xfrm>
          <a:prstGeom prst="line">
            <a:avLst/>
          </a:prstGeom>
          <a:ln w="19050">
            <a:solidFill>
              <a:srgbClr val="244E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57216" y="3794760"/>
            <a:ext cx="1828800" cy="868680"/>
          </a:xfrm>
          <a:prstGeom prst="roundRect">
            <a:avLst>
              <a:gd name="adj" fmla="val 12000"/>
            </a:avLst>
          </a:prstGeom>
          <a:solidFill>
            <a:srgbClr val="FBF9F4"/>
          </a:solidFill>
          <a:ln w="22225">
            <a:solidFill>
              <a:srgbClr val="244E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공급온도 센서</a:t>
            </a:r>
          </a:p>
          <a:p>
            <a:pPr algn="ctr">
              <a:lnSpc>
                <a:spcPct val="115000"/>
              </a:lnSpc>
            </a:pPr>
            <a:r>
              <a:rPr sz="1800" b="1">
                <a:solidFill>
                  <a:srgbClr val="244E41"/>
                </a:solidFill>
                <a:latin typeface="Apple SD Gothic Neo"/>
                <a:ea typeface="Apple SD Gothic Neo"/>
                <a:cs typeface="Apple SD Gothic Neo"/>
              </a:rPr>
              <a:t>기록 있음</a:t>
            </a:r>
          </a:p>
        </p:txBody>
      </p:sp>
      <p:cxnSp>
        <p:nvCxnSpPr>
          <p:cNvPr id="15" name="Connector 14"/>
          <p:cNvCxnSpPr/>
          <p:nvPr/>
        </p:nvCxnSpPr>
        <p:spPr>
          <a:xfrm>
            <a:off x="8284464"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70064"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건물 배관 유량</a:t>
            </a:r>
          </a:p>
          <a:p>
            <a:pPr algn="ctr">
              <a:lnSpc>
                <a:spcPct val="115000"/>
              </a:lnSpc>
            </a:pPr>
            <a:r>
              <a:rPr sz="1800" b="1">
                <a:solidFill>
                  <a:srgbClr val="D06B3D"/>
                </a:solidFill>
                <a:latin typeface="Apple SD Gothic Neo"/>
                <a:ea typeface="Apple SD Gothic Neo"/>
                <a:cs typeface="Apple SD Gothic Neo"/>
              </a:rPr>
              <a:t>기록 없음</a:t>
            </a:r>
          </a:p>
        </p:txBody>
      </p:sp>
      <p:cxnSp>
        <p:nvCxnSpPr>
          <p:cNvPr id="17" name="Connector 16"/>
          <p:cNvCxnSpPr/>
          <p:nvPr/>
        </p:nvCxnSpPr>
        <p:spPr>
          <a:xfrm>
            <a:off x="10497312"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82912"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실내 온도</a:t>
            </a:r>
          </a:p>
          <a:p>
            <a:pPr algn="ctr">
              <a:lnSpc>
                <a:spcPct val="115000"/>
              </a:lnSpc>
            </a:pPr>
            <a:r>
              <a:rPr sz="1800" b="1">
                <a:solidFill>
                  <a:srgbClr val="D06B3D"/>
                </a:solidFill>
                <a:latin typeface="Apple SD Gothic Neo"/>
                <a:ea typeface="Apple SD Gothic Neo"/>
                <a:cs typeface="Apple SD Gothic Neo"/>
              </a:rPr>
              <a:t>기록 없음</a:t>
            </a:r>
          </a:p>
        </p:txBody>
      </p:sp>
      <p:sp>
        <p:nvSpPr>
          <p:cNvPr id="19" name="Rounded Rectangle 18"/>
          <p:cNvSpPr/>
          <p:nvPr/>
        </p:nvSpPr>
        <p:spPr>
          <a:xfrm>
            <a:off x="731520" y="5166360"/>
            <a:ext cx="10698480" cy="8686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166360"/>
            <a:ext cx="10058400" cy="86868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샤워기 물이 뜨거워도, 수압이 약하면 씻기 어렵다</a:t>
            </a:r>
          </a:p>
        </p:txBody>
      </p:sp>
      <p:sp>
        <p:nvSpPr>
          <p:cNvPr id="21" name="TextBox 20"/>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 · 공개 데이터 PreDist v2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실제 신고: "난방이 안 된다"</a:t>
            </a:r>
          </a:p>
        </p:txBody>
      </p:sp>
      <p:sp>
        <p:nvSpPr>
          <p:cNvPr id="4" name="TextBox 3"/>
          <p:cNvSpPr txBox="1"/>
          <p:nvPr/>
        </p:nvSpPr>
        <p:spPr>
          <a:xfrm>
            <a:off x="731520" y="1783080"/>
            <a:ext cx="3657600" cy="365760"/>
          </a:xfrm>
          <a:prstGeom prst="rect">
            <a:avLst/>
          </a:prstGeom>
          <a:noFill/>
        </p:spPr>
        <p:txBody>
          <a:bodyPr wrap="square" lIns="18288" rIns="18288" tIns="18288" bIns="18288" anchor="t">
            <a:spAutoFit/>
          </a:bodyPr>
          <a:lstStyle/>
          <a:p>
            <a:pPr algn="l">
              <a:lnSpc>
                <a:spcPct val="115000"/>
              </a:lnSpc>
            </a:pPr>
            <a:r>
              <a:rPr sz="1800" b="0">
                <a:solidFill>
                  <a:srgbClr val="62736A"/>
                </a:solidFill>
                <a:latin typeface="Apple SD Gothic Neo"/>
                <a:ea typeface="Apple SD Gothic Neo"/>
                <a:cs typeface="Apple SD Gothic Neo"/>
              </a:rPr>
              <a:t>신고 직전 마지막 계측 (14:10)</a:t>
            </a:r>
          </a:p>
        </p:txBody>
      </p:sp>
      <p:sp>
        <p:nvSpPr>
          <p:cNvPr id="5" name="TextBox 4"/>
          <p:cNvSpPr txBox="1"/>
          <p:nvPr/>
        </p:nvSpPr>
        <p:spPr>
          <a:xfrm>
            <a:off x="731520" y="2194560"/>
            <a:ext cx="3840480" cy="822960"/>
          </a:xfrm>
          <a:prstGeom prst="rect">
            <a:avLst/>
          </a:prstGeom>
          <a:noFill/>
        </p:spPr>
        <p:txBody>
          <a:bodyPr wrap="square" lIns="18288" rIns="18288" tIns="18288" bIns="18288" anchor="t">
            <a:spAutoFit/>
          </a:bodyPr>
          <a:lstStyle/>
          <a:p>
            <a:pPr algn="l">
              <a:lnSpc>
                <a:spcPct val="115000"/>
              </a:lnSpc>
            </a:pPr>
            <a:r>
              <a:rPr sz="4400" b="1">
                <a:solidFill>
                  <a:srgbClr val="244E41"/>
                </a:solidFill>
                <a:latin typeface="Apple SD Gothic Neo"/>
                <a:ea typeface="Apple SD Gothic Neo"/>
                <a:cs typeface="Apple SD Gothic Neo"/>
              </a:rPr>
              <a:t>63.9°C</a:t>
            </a:r>
            <a:r>
              <a:rPr sz="2000" b="0">
                <a:solidFill>
                  <a:srgbClr val="62736A"/>
                </a:solidFill>
                <a:latin typeface="Apple SD Gothic Neo"/>
                <a:ea typeface="Apple SD Gothic Neo"/>
                <a:cs typeface="Apple SD Gothic Neo"/>
              </a:rPr>
              <a:t>  공급</a:t>
            </a:r>
          </a:p>
        </p:txBody>
      </p:sp>
      <p:sp>
        <p:nvSpPr>
          <p:cNvPr id="6" name="TextBox 5"/>
          <p:cNvSpPr txBox="1"/>
          <p:nvPr/>
        </p:nvSpPr>
        <p:spPr>
          <a:xfrm>
            <a:off x="731520" y="2971800"/>
            <a:ext cx="3840480" cy="822960"/>
          </a:xfrm>
          <a:prstGeom prst="rect">
            <a:avLst/>
          </a:prstGeom>
          <a:noFill/>
        </p:spPr>
        <p:txBody>
          <a:bodyPr wrap="square" lIns="18288" rIns="18288" tIns="18288" bIns="18288" anchor="t">
            <a:spAutoFit/>
          </a:bodyPr>
          <a:lstStyle/>
          <a:p>
            <a:pPr algn="l">
              <a:lnSpc>
                <a:spcPct val="115000"/>
              </a:lnSpc>
            </a:pPr>
            <a:r>
              <a:rPr sz="4400" b="1">
                <a:solidFill>
                  <a:srgbClr val="D06B3D"/>
                </a:solidFill>
                <a:latin typeface="Apple SD Gothic Neo"/>
                <a:ea typeface="Apple SD Gothic Neo"/>
                <a:cs typeface="Apple SD Gothic Neo"/>
              </a:rPr>
              <a:t>63.8°C</a:t>
            </a:r>
            <a:r>
              <a:rPr sz="2000" b="0">
                <a:solidFill>
                  <a:srgbClr val="62736A"/>
                </a:solidFill>
                <a:latin typeface="Apple SD Gothic Neo"/>
                <a:ea typeface="Apple SD Gothic Neo"/>
                <a:cs typeface="Apple SD Gothic Neo"/>
              </a:rPr>
              <a:t>  목표</a:t>
            </a:r>
          </a:p>
        </p:txBody>
      </p:sp>
      <p:sp>
        <p:nvSpPr>
          <p:cNvPr id="7" name="TextBox 6"/>
          <p:cNvSpPr txBox="1"/>
          <p:nvPr/>
        </p:nvSpPr>
        <p:spPr>
          <a:xfrm>
            <a:off x="731520" y="3840480"/>
            <a:ext cx="384048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 정상처럼 보인다</a:t>
            </a:r>
          </a:p>
        </p:txBody>
      </p:sp>
      <p:sp>
        <p:nvSpPr>
          <p:cNvPr id="8" name="TextBox 7"/>
          <p:cNvSpPr txBox="1"/>
          <p:nvPr/>
        </p:nvSpPr>
        <p:spPr>
          <a:xfrm>
            <a:off x="731520" y="4754880"/>
            <a:ext cx="3931920" cy="1280160"/>
          </a:xfrm>
          <a:prstGeom prst="rect">
            <a:avLst/>
          </a:prstGeom>
          <a:noFill/>
        </p:spPr>
        <p:txBody>
          <a:bodyPr wrap="square" lIns="18288" rIns="18288" tIns="18288" bIns="18288" anchor="t">
            <a:spAutoFit/>
          </a:bodyPr>
          <a:lstStyle/>
          <a:p>
            <a:pPr algn="l">
              <a:lnSpc>
                <a:spcPct val="115000"/>
              </a:lnSpc>
            </a:pPr>
            <a:r>
              <a:rPr sz="2200" b="0">
                <a:solidFill>
                  <a:srgbClr val="172B27"/>
                </a:solidFill>
                <a:latin typeface="Apple SD Gothic Neo"/>
                <a:ea typeface="Apple SD Gothic Neo"/>
                <a:cs typeface="Apple SD Gothic Neo"/>
              </a:rPr>
              <a:t>하지만 그전 24시간에는</a:t>
            </a:r>
          </a:p>
          <a:p>
            <a:pPr algn="l">
              <a:lnSpc>
                <a:spcPct val="115000"/>
              </a:lnSpc>
            </a:pPr>
            <a:r>
              <a:rPr sz="2200" b="1">
                <a:solidFill>
                  <a:srgbClr val="D06B3D"/>
                </a:solidFill>
                <a:latin typeface="Apple SD Gothic Neo"/>
                <a:ea typeface="Apple SD Gothic Neo"/>
                <a:cs typeface="Apple SD Gothic Neo"/>
              </a:rPr>
              <a:t>최대 13.4°C</a:t>
            </a:r>
            <a:r>
              <a:rPr sz="2200" b="0">
                <a:solidFill>
                  <a:srgbClr val="172B27"/>
                </a:solidFill>
                <a:latin typeface="Apple SD Gothic Neo"/>
                <a:ea typeface="Apple SD Gothic Neo"/>
                <a:cs typeface="Apple SD Gothic Neo"/>
              </a:rPr>
              <a:t> 벌어졌다</a:t>
            </a:r>
          </a:p>
        </p:txBody>
      </p:sp>
      <p:pic>
        <p:nvPicPr>
          <p:cNvPr id="9" name="Picture 8" descr="system2-case29-trend.png"/>
          <p:cNvPicPr>
            <a:picLocks noChangeAspect="1"/>
          </p:cNvPicPr>
          <p:nvPr/>
        </p:nvPicPr>
        <p:blipFill>
          <a:blip r:embed="rId3"/>
          <a:stretch>
            <a:fillRect/>
          </a:stretch>
        </p:blipFill>
        <p:spPr>
          <a:xfrm>
            <a:off x="4846320" y="1920240"/>
            <a:ext cx="6766560" cy="2748915"/>
          </a:xfrm>
          <a:prstGeom prst="rect">
            <a:avLst/>
          </a:prstGeom>
        </p:spPr>
      </p:pic>
      <p:sp>
        <p:nvSpPr>
          <p:cNvPr id="10" name="TextBox 9"/>
          <p:cNvSpPr txBox="1"/>
          <p:nvPr/>
        </p:nvSpPr>
        <p:spPr>
          <a:xfrm>
            <a:off x="4846320" y="4846320"/>
            <a:ext cx="6766560" cy="365760"/>
          </a:xfrm>
          <a:prstGeom prst="rect">
            <a:avLst/>
          </a:prstGeom>
          <a:noFill/>
        </p:spPr>
        <p:txBody>
          <a:bodyPr wrap="square" lIns="18288" rIns="18288" tIns="18288" bIns="18288" anchor="t">
            <a:spAutoFit/>
          </a:bodyPr>
          <a:lstStyle/>
          <a:p>
            <a:pPr algn="l">
              <a:lnSpc>
                <a:spcPct val="115000"/>
              </a:lnSpc>
            </a:pPr>
            <a:r>
              <a:rPr sz="1600" b="0">
                <a:solidFill>
                  <a:srgbClr val="244E41"/>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실제 공급온도   </a:t>
            </a:r>
            <a:r>
              <a:rPr sz="1600" b="0">
                <a:solidFill>
                  <a:srgbClr val="D06B3D"/>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목표 온도</a:t>
            </a:r>
          </a:p>
        </p:txBody>
      </p:sp>
      <p:sp>
        <p:nvSpPr>
          <p:cNvPr id="11" name="TextBox 10"/>
          <p:cNvSpPr txBox="1"/>
          <p:nvPr/>
        </p:nvSpPr>
        <p:spPr>
          <a:xfrm>
            <a:off x="4846320" y="5212080"/>
            <a:ext cx="6766560" cy="365760"/>
          </a:xfrm>
          <a:prstGeom prst="rect">
            <a:avLst/>
          </a:prstGeom>
          <a:noFill/>
        </p:spPr>
        <p:txBody>
          <a:bodyPr wrap="square" lIns="18288" rIns="18288" tIns="18288" bIns="18288" anchor="t">
            <a:spAutoFit/>
          </a:bodyPr>
          <a:lstStyle/>
          <a:p>
            <a:pPr algn="l">
              <a:lnSpc>
                <a:spcPct val="115000"/>
              </a:lnSpc>
            </a:pPr>
            <a:r>
              <a:rPr sz="1500" b="0">
                <a:solidFill>
                  <a:srgbClr val="62736A"/>
                </a:solidFill>
                <a:latin typeface="Apple SD Gothic Neo"/>
                <a:ea typeface="Apple SD Gothic Neo"/>
                <a:cs typeface="Apple SD Gothic Neo"/>
              </a:rPr>
              <a:t>17번 서브스테이션 · 2019-01-09 14:18 신고 · 24시간, 10분 간격 144개 기록</a:t>
            </a:r>
          </a:p>
        </p:txBody>
      </p:sp>
      <p:sp>
        <p:nvSpPr>
          <p:cNvPr id="12" name="TextBox 1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에이전트가 한 일</a:t>
            </a:r>
          </a:p>
        </p:txBody>
      </p:sp>
      <p:sp>
        <p:nvSpPr>
          <p:cNvPr id="4" name="TextBox 3"/>
          <p:cNvSpPr txBox="1"/>
          <p:nvPr/>
        </p:nvSpPr>
        <p:spPr>
          <a:xfrm>
            <a:off x="731520" y="1783080"/>
            <a:ext cx="5120640" cy="365760"/>
          </a:xfrm>
          <a:prstGeom prst="rect">
            <a:avLst/>
          </a:prstGeom>
          <a:noFill/>
        </p:spPr>
        <p:txBody>
          <a:bodyPr wrap="square" lIns="18288" rIns="18288" tIns="18288" bIns="18288" anchor="t">
            <a:spAutoFit/>
          </a:bodyPr>
          <a:lstStyle/>
          <a:p>
            <a:pPr algn="l">
              <a:lnSpc>
                <a:spcPct val="115000"/>
              </a:lnSpc>
            </a:pP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가 고른 자료 6종</a:t>
            </a:r>
          </a:p>
        </p:txBody>
      </p:sp>
      <p:sp>
        <p:nvSpPr>
          <p:cNvPr id="5" name="Rounded Rectangle 4"/>
          <p:cNvSpPr/>
          <p:nvPr/>
        </p:nvSpPr>
        <p:spPr>
          <a:xfrm>
            <a:off x="7315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최근 계측</a:t>
            </a:r>
          </a:p>
        </p:txBody>
      </p:sp>
      <p:sp>
        <p:nvSpPr>
          <p:cNvPr id="6" name="Rounded Rectangle 5"/>
          <p:cNvSpPr/>
          <p:nvPr/>
        </p:nvSpPr>
        <p:spPr>
          <a:xfrm>
            <a:off x="32461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센서 설명</a:t>
            </a:r>
          </a:p>
        </p:txBody>
      </p:sp>
      <p:sp>
        <p:nvSpPr>
          <p:cNvPr id="7" name="Rounded Rectangle 6"/>
          <p:cNvSpPr/>
          <p:nvPr/>
        </p:nvSpPr>
        <p:spPr>
          <a:xfrm>
            <a:off x="7315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과거 신고</a:t>
            </a:r>
          </a:p>
        </p:txBody>
      </p:sp>
      <p:sp>
        <p:nvSpPr>
          <p:cNvPr id="8" name="Rounded Rectangle 7"/>
          <p:cNvSpPr/>
          <p:nvPr/>
        </p:nvSpPr>
        <p:spPr>
          <a:xfrm>
            <a:off x="32461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정비 기록</a:t>
            </a:r>
          </a:p>
        </p:txBody>
      </p:sp>
      <p:sp>
        <p:nvSpPr>
          <p:cNvPr id="9" name="Rounded Rectangle 8"/>
          <p:cNvSpPr/>
          <p:nvPr/>
        </p:nvSpPr>
        <p:spPr>
          <a:xfrm>
            <a:off x="7315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목표 이탈 시간대</a:t>
            </a:r>
          </a:p>
        </p:txBody>
      </p:sp>
      <p:sp>
        <p:nvSpPr>
          <p:cNvPr id="10" name="Rounded Rectangle 9"/>
          <p:cNvSpPr/>
          <p:nvPr/>
        </p:nvSpPr>
        <p:spPr>
          <a:xfrm>
            <a:off x="32461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13:00~14:18 재조회</a:t>
            </a:r>
          </a:p>
        </p:txBody>
      </p:sp>
      <p:sp>
        <p:nvSpPr>
          <p:cNvPr id="11" name="TextBox 10"/>
          <p:cNvSpPr txBox="1"/>
          <p:nvPr/>
        </p:nvSpPr>
        <p:spPr>
          <a:xfrm>
            <a:off x="731520" y="4572000"/>
            <a:ext cx="4937760" cy="822960"/>
          </a:xfrm>
          <a:prstGeom prst="rect">
            <a:avLst/>
          </a:prstGeom>
          <a:noFill/>
        </p:spPr>
        <p:txBody>
          <a:bodyPr wrap="square" lIns="18288" rIns="18288" tIns="18288" bIns="18288" anchor="t">
            <a:spAutoFit/>
          </a:bodyPr>
          <a:lstStyle/>
          <a:p>
            <a:pPr algn="l">
              <a:lnSpc>
                <a:spcPct val="115000"/>
              </a:lnSpc>
            </a:pPr>
            <a:r>
              <a:rPr sz="4000" b="1">
                <a:solidFill>
                  <a:srgbClr val="172B27"/>
                </a:solidFill>
                <a:latin typeface="Apple SD Gothic Neo"/>
                <a:ea typeface="Apple SD Gothic Neo"/>
                <a:cs typeface="Apple SD Gothic Neo"/>
              </a:rPr>
              <a:t>약 20초</a:t>
            </a:r>
          </a:p>
          <a:p>
            <a:pPr algn="l">
              <a:lnSpc>
                <a:spcPct val="115000"/>
              </a:lnSpc>
            </a:pPr>
            <a:r>
              <a:rPr sz="1500" b="0">
                <a:solidFill>
                  <a:srgbClr val="62736A"/>
                </a:solidFill>
                <a:latin typeface="Apple SD Gothic Neo"/>
                <a:ea typeface="Apple SD Gothic Neo"/>
                <a:cs typeface="Apple SD Gothic Neo"/>
              </a:rPr>
              <a:t>모델·도구 실행 시간 (현장 처리 시간 아님)</a:t>
            </a:r>
          </a:p>
        </p:txBody>
      </p:sp>
      <p:cxnSp>
        <p:nvCxnSpPr>
          <p:cNvPr id="12" name="Connector 11"/>
          <p:cNvCxnSpPr/>
          <p:nvPr/>
        </p:nvCxnSpPr>
        <p:spPr>
          <a:xfrm>
            <a:off x="5806440" y="3291840"/>
            <a:ext cx="5486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1783080"/>
            <a:ext cx="5120640" cy="36576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점검 3가지 · 원본 기록에 연결</a:t>
            </a:r>
          </a:p>
        </p:txBody>
      </p:sp>
      <p:sp>
        <p:nvSpPr>
          <p:cNvPr id="14" name="Rounded Rectangle 13"/>
          <p:cNvSpPr/>
          <p:nvPr/>
        </p:nvSpPr>
        <p:spPr>
          <a:xfrm>
            <a:off x="6492240" y="228600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① 실내·라디에이터 온도 확인</a:t>
            </a:r>
          </a:p>
        </p:txBody>
      </p:sp>
      <p:sp>
        <p:nvSpPr>
          <p:cNvPr id="15" name="Rounded Rectangle 14"/>
          <p:cNvSpPr/>
          <p:nvPr/>
        </p:nvSpPr>
        <p:spPr>
          <a:xfrm>
            <a:off x="6492240" y="301752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② 건물 배관 유량 측정</a:t>
            </a:r>
          </a:p>
        </p:txBody>
      </p:sp>
      <p:sp>
        <p:nvSpPr>
          <p:cNvPr id="16" name="Rounded Rectangle 15"/>
          <p:cNvSpPr/>
          <p:nvPr/>
        </p:nvSpPr>
        <p:spPr>
          <a:xfrm>
            <a:off x="6492240" y="3749039"/>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③ 제어기 설정·경보 기록 검토</a:t>
            </a:r>
          </a:p>
        </p:txBody>
      </p:sp>
      <p:sp>
        <p:nvSpPr>
          <p:cNvPr id="17" name="Rounded Rectangle 16"/>
          <p:cNvSpPr/>
          <p:nvPr/>
        </p:nvSpPr>
        <p:spPr>
          <a:xfrm>
            <a:off x="6492240" y="4526280"/>
            <a:ext cx="4937760" cy="566928"/>
          </a:xfrm>
          <a:prstGeom prst="roundRect">
            <a:avLst>
              <a:gd name="adj" fmla="val 12000"/>
            </a:avLst>
          </a:prstGeom>
          <a:solidFill>
            <a:srgbClr val="FBF9F4"/>
          </a:solidFill>
          <a:ln w="1905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800" b="0">
                <a:solidFill>
                  <a:srgbClr val="D06B3D"/>
                </a:solidFill>
                <a:latin typeface="Apple SD Gothic Neo"/>
                <a:ea typeface="Apple SD Gothic Neo"/>
                <a:cs typeface="Apple SD Gothic Neo"/>
              </a:rPr>
              <a:t>+ 데이터로 알 수 없는 것도 함께 전달</a:t>
            </a:r>
          </a:p>
        </p:txBody>
      </p:sp>
      <p:sp>
        <p:nvSpPr>
          <p:cNvPr id="18" name="TextBox 17"/>
          <p:cNvSpPr txBox="1"/>
          <p:nvPr/>
        </p:nvSpPr>
        <p:spPr>
          <a:xfrm>
            <a:off x="6492240" y="5349240"/>
            <a:ext cx="493776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판단은 엔지니어가 한다</a:t>
            </a:r>
          </a:p>
        </p:txBody>
      </p:sp>
      <p:sp>
        <p:nvSpPr>
          <p:cNvPr id="19" name="TextBox 18"/>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로컬·보안 환경용 에이전트를 빠르게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구조와 NVIDIA 기술</a:t>
            </a:r>
          </a:p>
        </p:txBody>
      </p:sp>
      <p:sp>
        <p:nvSpPr>
          <p:cNvPr id="4" name="Rounded Rectangle 3"/>
          <p:cNvSpPr/>
          <p:nvPr/>
        </p:nvSpPr>
        <p:spPr>
          <a:xfrm>
            <a:off x="731520" y="1874519"/>
            <a:ext cx="182880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신고</a:t>
            </a:r>
          </a:p>
          <a:p>
            <a:pPr algn="ctr">
              <a:lnSpc>
                <a:spcPct val="115000"/>
              </a:lnSpc>
            </a:pPr>
            <a:r>
              <a:rPr sz="1800" b="0">
                <a:solidFill>
                  <a:srgbClr val="172B27"/>
                </a:solidFill>
                <a:latin typeface="Apple SD Gothic Neo"/>
                <a:ea typeface="Apple SD Gothic Neo"/>
                <a:cs typeface="Apple SD Gothic Neo"/>
              </a:rPr>
              <a:t>+ 접수 시각</a:t>
            </a:r>
          </a:p>
        </p:txBody>
      </p:sp>
      <p:sp>
        <p:nvSpPr>
          <p:cNvPr id="5" name="Rounded Rectangle 4"/>
          <p:cNvSpPr/>
          <p:nvPr/>
        </p:nvSpPr>
        <p:spPr>
          <a:xfrm>
            <a:off x="3108960" y="1783079"/>
            <a:ext cx="2743200" cy="128016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Nemotron 3 Ultra</a:t>
            </a:r>
          </a:p>
          <a:p>
            <a:pPr algn="ctr">
              <a:lnSpc>
                <a:spcPct val="115000"/>
              </a:lnSpc>
            </a:pPr>
            <a:r>
              <a:rPr sz="1500" b="0">
                <a:solidFill>
                  <a:srgbClr val="FFFFFF"/>
                </a:solidFill>
                <a:latin typeface="Apple SD Gothic Neo"/>
                <a:ea typeface="Apple SD Gothic Neo"/>
                <a:cs typeface="Apple SD Gothic Neo"/>
              </a:rPr>
              <a:t>NVIDIA NIM</a:t>
            </a:r>
          </a:p>
        </p:txBody>
      </p:sp>
      <p:sp>
        <p:nvSpPr>
          <p:cNvPr id="6" name="Rounded Rectangle 5"/>
          <p:cNvSpPr/>
          <p:nvPr/>
        </p:nvSpPr>
        <p:spPr>
          <a:xfrm>
            <a:off x="6400800" y="1874519"/>
            <a:ext cx="219456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근거 연결</a:t>
            </a:r>
          </a:p>
          <a:p>
            <a:pPr algn="ctr">
              <a:lnSpc>
                <a:spcPct val="115000"/>
              </a:lnSpc>
            </a:pPr>
            <a:r>
              <a:rPr sz="1800" b="0">
                <a:solidFill>
                  <a:srgbClr val="172B27"/>
                </a:solidFill>
                <a:latin typeface="Apple SD Gothic Neo"/>
                <a:ea typeface="Apple SD Gothic Neo"/>
                <a:cs typeface="Apple SD Gothic Neo"/>
              </a:rPr>
              <a:t>검사</a:t>
            </a:r>
          </a:p>
        </p:txBody>
      </p:sp>
      <p:sp>
        <p:nvSpPr>
          <p:cNvPr id="7" name="Rounded Rectangle 6"/>
          <p:cNvSpPr/>
          <p:nvPr/>
        </p:nvSpPr>
        <p:spPr>
          <a:xfrm>
            <a:off x="9144000" y="1874519"/>
            <a:ext cx="2286000" cy="109728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엔지니어</a:t>
            </a:r>
          </a:p>
        </p:txBody>
      </p:sp>
      <p:cxnSp>
        <p:nvCxnSpPr>
          <p:cNvPr id="8" name="Connector 7"/>
          <p:cNvCxnSpPr/>
          <p:nvPr/>
        </p:nvCxnSpPr>
        <p:spPr>
          <a:xfrm>
            <a:off x="260604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978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410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1520" y="3429000"/>
            <a:ext cx="3429000" cy="201168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모델 제공</a:t>
            </a:r>
          </a:p>
        </p:txBody>
      </p:sp>
      <p:sp>
        <p:nvSpPr>
          <p:cNvPr id="13" name="TextBox 12"/>
          <p:cNvSpPr txBox="1"/>
          <p:nvPr/>
        </p:nvSpPr>
        <p:spPr>
          <a:xfrm>
            <a:off x="960120"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NIM</a:t>
            </a:r>
          </a:p>
        </p:txBody>
      </p:sp>
      <p:sp>
        <p:nvSpPr>
          <p:cNvPr id="14" name="TextBox 13"/>
          <p:cNvSpPr txBox="1"/>
          <p:nvPr/>
        </p:nvSpPr>
        <p:spPr>
          <a:xfrm>
            <a:off x="960120"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Ultra를 표준 API로 호출</a:t>
            </a:r>
          </a:p>
        </p:txBody>
      </p:sp>
      <p:sp>
        <p:nvSpPr>
          <p:cNvPr id="15" name="Rounded Rectangle 14"/>
          <p:cNvSpPr/>
          <p:nvPr/>
        </p:nvSpPr>
        <p:spPr>
          <a:xfrm>
            <a:off x="960120" y="4910328"/>
            <a:ext cx="2971800" cy="384048"/>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1">
                <a:solidFill>
                  <a:srgbClr val="FFFFFF"/>
                </a:solidFill>
                <a:latin typeface="Apple SD Gothic Neo"/>
                <a:ea typeface="Apple SD Gothic Neo"/>
                <a:cs typeface="Apple SD Gothic Neo"/>
              </a:rPr>
              <a:t>데모 핵심 경로</a:t>
            </a:r>
          </a:p>
        </p:txBody>
      </p:sp>
      <p:sp>
        <p:nvSpPr>
          <p:cNvPr id="16" name="Rounded Rectangle 15"/>
          <p:cNvSpPr/>
          <p:nvPr/>
        </p:nvSpPr>
        <p:spPr>
          <a:xfrm>
            <a:off x="4370832"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99432"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도구 실행</a:t>
            </a:r>
          </a:p>
        </p:txBody>
      </p:sp>
      <p:sp>
        <p:nvSpPr>
          <p:cNvPr id="18" name="TextBox 17"/>
          <p:cNvSpPr txBox="1"/>
          <p:nvPr/>
        </p:nvSpPr>
        <p:spPr>
          <a:xfrm>
            <a:off x="4599432"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NeMo Agent Toolkit</a:t>
            </a:r>
          </a:p>
        </p:txBody>
      </p:sp>
      <p:sp>
        <p:nvSpPr>
          <p:cNvPr id="19" name="TextBox 18"/>
          <p:cNvSpPr txBox="1"/>
          <p:nvPr/>
        </p:nvSpPr>
        <p:spPr>
          <a:xfrm>
            <a:off x="4599432"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읽기 도구 등록 · 사례 52 조회 6회</a:t>
            </a:r>
          </a:p>
        </p:txBody>
      </p:sp>
      <p:sp>
        <p:nvSpPr>
          <p:cNvPr id="20" name="Rounded Rectangle 19"/>
          <p:cNvSpPr/>
          <p:nvPr/>
        </p:nvSpPr>
        <p:spPr>
          <a:xfrm>
            <a:off x="4599432"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일부 적용 · 루프는 자체 코드</a:t>
            </a:r>
          </a:p>
        </p:txBody>
      </p:sp>
      <p:sp>
        <p:nvSpPr>
          <p:cNvPr id="21" name="Rounded Rectangle 20"/>
          <p:cNvSpPr/>
          <p:nvPr/>
        </p:nvSpPr>
        <p:spPr>
          <a:xfrm>
            <a:off x="8010144"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38744"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안전장치</a:t>
            </a:r>
          </a:p>
        </p:txBody>
      </p:sp>
      <p:sp>
        <p:nvSpPr>
          <p:cNvPr id="23" name="TextBox 22"/>
          <p:cNvSpPr txBox="1"/>
          <p:nvPr/>
        </p:nvSpPr>
        <p:spPr>
          <a:xfrm>
            <a:off x="8238744"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OpenShell</a:t>
            </a:r>
          </a:p>
        </p:txBody>
      </p:sp>
      <p:sp>
        <p:nvSpPr>
          <p:cNvPr id="24" name="TextBox 23"/>
          <p:cNvSpPr txBox="1"/>
          <p:nvPr/>
        </p:nvSpPr>
        <p:spPr>
          <a:xfrm>
            <a:off x="8238744"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허용 파일 읽기만 통과 · 나머지 차단</a:t>
            </a:r>
          </a:p>
        </p:txBody>
      </p:sp>
      <p:sp>
        <p:nvSpPr>
          <p:cNvPr id="25" name="Rounded Rectangle 24"/>
          <p:cNvSpPr/>
          <p:nvPr/>
        </p:nvSpPr>
        <p:spPr>
          <a:xfrm>
            <a:off x="8238744"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공개 시험 데이터로만 확인</a:t>
            </a:r>
          </a:p>
        </p:txBody>
      </p:sp>
      <p:sp>
        <p:nvSpPr>
          <p:cNvPr id="26" name="TextBox 25"/>
          <p:cNvSpPr txBox="1"/>
          <p:nvPr/>
        </p:nvSpPr>
        <p:spPr>
          <a:xfrm>
            <a:off x="731520" y="5669280"/>
            <a:ext cx="10698480" cy="54864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실행 환경 생태계가 갖춰져 있어 </a:t>
            </a:r>
            <a:r>
              <a:rPr sz="1900" b="1">
                <a:solidFill>
                  <a:srgbClr val="244E41"/>
                </a:solidFill>
                <a:latin typeface="Apple SD Gothic Neo"/>
                <a:ea typeface="Apple SD Gothic Neo"/>
                <a:cs typeface="Apple SD Gothic Neo"/>
              </a:rPr>
              <a:t>로컬·보안 환경용 에이전트를 빠르게 구성</a:t>
            </a:r>
          </a:p>
        </p:txBody>
      </p:sp>
      <p:sp>
        <p:nvSpPr>
          <p:cNvPr id="27" name="TextBox 2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PreDist 사건 32건 · 같은 자료 · 같은 출력 형식 · 사건당 1회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평가 결과: 판단의 질은 상한선에 가깝다</a:t>
            </a:r>
          </a:p>
        </p:txBody>
      </p:sp>
      <p:pic>
        <p:nvPicPr>
          <p:cNvPr id="4" name="Picture 3" descr="eval-cycle5.png"/>
          <p:cNvPicPr>
            <a:picLocks noChangeAspect="1"/>
          </p:cNvPicPr>
          <p:nvPr/>
        </p:nvPicPr>
        <p:blipFill>
          <a:blip r:embed="rId3"/>
          <a:stretch>
            <a:fillRect/>
          </a:stretch>
        </p:blipFill>
        <p:spPr>
          <a:xfrm>
            <a:off x="548640" y="1783080"/>
            <a:ext cx="6675120" cy="3319558"/>
          </a:xfrm>
          <a:prstGeom prst="rect">
            <a:avLst/>
          </a:prstGeom>
        </p:spPr>
      </p:pic>
      <p:sp>
        <p:nvSpPr>
          <p:cNvPr id="5" name="TextBox 4"/>
          <p:cNvSpPr txBox="1"/>
          <p:nvPr/>
        </p:nvSpPr>
        <p:spPr>
          <a:xfrm>
            <a:off x="7498079" y="1783080"/>
            <a:ext cx="4206240" cy="3566160"/>
          </a:xfrm>
          <a:prstGeom prst="rect">
            <a:avLst/>
          </a:prstGeom>
          <a:noFill/>
        </p:spPr>
        <p:txBody>
          <a:bodyPr wrap="square" lIns="18288" rIns="18288" tIns="18288" bIns="18288" anchor="t">
            <a:spAutoFit/>
          </a:bodyPr>
          <a:lstStyle/>
          <a:p>
            <a:pPr algn="l">
              <a:lnSpc>
                <a:spcPct val="115000"/>
              </a:lnSpc>
            </a:pPr>
            <a:r>
              <a:rPr sz="1900" b="1">
                <a:solidFill>
                  <a:srgbClr val="62736A"/>
                </a:solidFill>
                <a:latin typeface="Apple SD Gothic Neo"/>
                <a:ea typeface="Apple SD Gothic Neo"/>
                <a:cs typeface="Apple SD Gothic Neo"/>
              </a:rPr>
              <a:t>Sonnet 5 = 클라우드 상한선</a:t>
            </a:r>
          </a:p>
          <a:p>
            <a:pPr algn="l">
              <a:lnSpc>
                <a:spcPct val="115000"/>
              </a:lnSpc>
            </a:pPr>
            <a:r>
              <a:rPr sz="1500" b="0">
                <a:solidFill>
                  <a:srgbClr val="62736A"/>
                </a:solidFill>
                <a:latin typeface="Apple SD Gothic Neo"/>
                <a:ea typeface="Apple SD Gothic Neo"/>
                <a:cs typeface="Apple SD Gothic Neo"/>
              </a:rPr>
              <a:t>보안상 현장 사용 불가 · 32/32</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76B900"/>
                </a:solidFill>
                <a:latin typeface="Apple SD Gothic Neo"/>
                <a:ea typeface="Apple SD Gothic Neo"/>
                <a:cs typeface="Apple SD Gothic Neo"/>
              </a:rPr>
              <a:t>Ultra가 쓴 점검안 15개</a:t>
            </a:r>
          </a:p>
          <a:p>
            <a:pPr algn="l">
              <a:lnSpc>
                <a:spcPct val="115000"/>
              </a:lnSpc>
            </a:pPr>
            <a:r>
              <a:rPr sz="1500" b="0">
                <a:solidFill>
                  <a:srgbClr val="172B27"/>
                </a:solidFill>
                <a:latin typeface="Apple SD Gothic Neo"/>
                <a:ea typeface="Apple SD Gothic Neo"/>
                <a:cs typeface="Apple SD Gothic Neo"/>
              </a:rPr>
              <a:t>근거 조작 0건 · 모두 검사 통과</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D06B3D"/>
                </a:solidFill>
                <a:latin typeface="Apple SD Gothic Neo"/>
                <a:ea typeface="Apple SD Gothic Neo"/>
                <a:cs typeface="Apple SD Gothic Neo"/>
              </a:rPr>
              <a:t>놓친 17건의 이유</a:t>
            </a:r>
          </a:p>
          <a:p>
            <a:pPr algn="l">
              <a:lnSpc>
                <a:spcPct val="115000"/>
              </a:lnSpc>
            </a:pPr>
            <a:r>
              <a:rPr sz="1500" b="0">
                <a:solidFill>
                  <a:srgbClr val="172B27"/>
                </a:solidFill>
                <a:latin typeface="Apple SD Gothic Neo"/>
                <a:ea typeface="Apple SD Gothic Neo"/>
                <a:cs typeface="Apple SD Gothic Neo"/>
              </a:rPr>
              <a:t>API 오류 13 · 도구 실수 4 (한 가지)</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172B27"/>
                </a:solidFill>
                <a:latin typeface="Apple SD Gothic Neo"/>
                <a:ea typeface="Apple SD Gothic Neo"/>
                <a:cs typeface="Apple SD Gothic Neo"/>
              </a:rPr>
              <a:t>내용 점수 41 : 42 / 48 (2건)</a:t>
            </a:r>
          </a:p>
        </p:txBody>
      </p:sp>
      <p:sp>
        <p:nvSpPr>
          <p:cNvPr id="6" name="Rounded Rectangle 5"/>
          <p:cNvSpPr/>
          <p:nvPr/>
        </p:nvSpPr>
        <p:spPr>
          <a:xfrm>
            <a:off x="731520" y="5486400"/>
            <a:ext cx="10698480" cy="6400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5486400"/>
            <a:ext cx="10241280" cy="640080"/>
          </a:xfrm>
          <a:prstGeom prst="rect">
            <a:avLst/>
          </a:prstGeom>
          <a:noFill/>
        </p:spPr>
        <p:txBody>
          <a:bodyPr wrap="square" lIns="18288" rIns="18288" tIns="18288" bIns="18288" anchor="ctr">
            <a:spAutoFit/>
          </a:bodyPr>
          <a:lstStyle/>
          <a:p>
            <a:pPr algn="l">
              <a:lnSpc>
                <a:spcPct val="115000"/>
              </a:lnSpc>
            </a:pPr>
            <a:r>
              <a:rPr sz="2000" b="0">
                <a:solidFill>
                  <a:srgbClr val="172B27"/>
                </a:solidFill>
                <a:latin typeface="Apple SD Gothic Neo"/>
                <a:ea typeface="Apple SD Gothic Neo"/>
                <a:cs typeface="Apple SD Gothic Neo"/>
              </a:rPr>
              <a:t>격차는 판단력이 아니라 </a:t>
            </a:r>
            <a:r>
              <a:rPr sz="2000" b="1">
                <a:solidFill>
                  <a:srgbClr val="244E41"/>
                </a:solidFill>
                <a:latin typeface="Apple SD Gothic Neo"/>
                <a:ea typeface="Apple SD Gothic Neo"/>
                <a:cs typeface="Apple SD Gothic Neo"/>
              </a:rPr>
              <a:t>실행 안정성</a:t>
            </a:r>
            <a:r>
              <a:rPr sz="1600" b="0">
                <a:solidFill>
                  <a:srgbClr val="62736A"/>
                </a:solidFill>
                <a:latin typeface="Apple SD Gothic Neo"/>
                <a:ea typeface="Apple SD Gothic Neo"/>
                <a:cs typeface="Apple SD Gothic Neo"/>
              </a:rPr>
              <a:t>  →  현장 배포 + 도구 보완으로 오프라인에서 해결 예정</a:t>
            </a:r>
          </a:p>
        </p:txBody>
      </p:sp>
      <p:sp>
        <p:nvSpPr>
          <p:cNvPr id="8" name="TextBox 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다음 단계</a:t>
            </a:r>
          </a:p>
        </p:txBody>
      </p:sp>
      <p:sp>
        <p:nvSpPr>
          <p:cNvPr id="3" name="Rounded Rectangle 2"/>
          <p:cNvSpPr/>
          <p:nvPr/>
        </p:nvSpPr>
        <p:spPr>
          <a:xfrm>
            <a:off x="73152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1</a:t>
            </a:r>
          </a:p>
        </p:txBody>
      </p:sp>
      <p:sp>
        <p:nvSpPr>
          <p:cNvPr id="5" name="TextBox 4"/>
          <p:cNvSpPr txBox="1"/>
          <p:nvPr/>
        </p:nvSpPr>
        <p:spPr>
          <a:xfrm>
            <a:off x="100584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오프라인 보완</a:t>
            </a:r>
          </a:p>
          <a:p>
            <a:pPr algn="l">
              <a:lnSpc>
                <a:spcPct val="115000"/>
              </a:lnSpc>
            </a:pPr>
            <a:r>
              <a:rPr sz="1800" b="0">
                <a:solidFill>
                  <a:srgbClr val="62736A"/>
                </a:solidFill>
                <a:latin typeface="Apple SD Gothic Neo"/>
                <a:ea typeface="Apple SD Gothic Neo"/>
                <a:cs typeface="Apple SD Gothic Neo"/>
              </a:rPr>
              <a:t>+ 현장 엔지니어 평가</a:t>
            </a:r>
          </a:p>
        </p:txBody>
      </p:sp>
      <p:cxnSp>
        <p:nvCxnSpPr>
          <p:cNvPr id="6" name="Connector 5"/>
          <p:cNvCxnSpPr/>
          <p:nvPr/>
        </p:nvCxnSpPr>
        <p:spPr>
          <a:xfrm>
            <a:off x="406908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3484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709159"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2</a:t>
            </a:r>
          </a:p>
        </p:txBody>
      </p:sp>
      <p:sp>
        <p:nvSpPr>
          <p:cNvPr id="9" name="TextBox 8"/>
          <p:cNvSpPr txBox="1"/>
          <p:nvPr/>
        </p:nvSpPr>
        <p:spPr>
          <a:xfrm>
            <a:off x="4709159"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System 1 구현</a:t>
            </a:r>
          </a:p>
          <a:p>
            <a:pPr algn="l">
              <a:lnSpc>
                <a:spcPct val="115000"/>
              </a:lnSpc>
            </a:pPr>
            <a:r>
              <a:rPr sz="2100" b="1">
                <a:solidFill>
                  <a:srgbClr val="76B900"/>
                </a:solidFill>
                <a:latin typeface="Apple SD Gothic Neo"/>
                <a:ea typeface="Apple SD Gothic Neo"/>
                <a:cs typeface="Apple SD Gothic Neo"/>
              </a:rPr>
              <a:t>Nano</a:t>
            </a:r>
            <a:r>
              <a:rPr sz="1800" b="0">
                <a:solidFill>
                  <a:srgbClr val="172B27"/>
                </a:solidFill>
                <a:latin typeface="Apple SD Gothic Neo"/>
                <a:ea typeface="Apple SD Gothic Neo"/>
                <a:cs typeface="Apple SD Gothic Neo"/>
              </a:rPr>
              <a:t> · 5만 신호 부하 시험</a:t>
            </a:r>
          </a:p>
        </p:txBody>
      </p:sp>
      <p:cxnSp>
        <p:nvCxnSpPr>
          <p:cNvPr id="10" name="Connector 9"/>
          <p:cNvCxnSpPr/>
          <p:nvPr/>
        </p:nvCxnSpPr>
        <p:spPr>
          <a:xfrm>
            <a:off x="777240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3816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3</a:t>
            </a:r>
          </a:p>
        </p:txBody>
      </p:sp>
      <p:sp>
        <p:nvSpPr>
          <p:cNvPr id="13" name="TextBox 12"/>
          <p:cNvSpPr txBox="1"/>
          <p:nvPr/>
        </p:nvSpPr>
        <p:spPr>
          <a:xfrm>
            <a:off x="841248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현장 내부 통합</a:t>
            </a:r>
          </a:p>
          <a:p>
            <a:pPr algn="l">
              <a:lnSpc>
                <a:spcPct val="115000"/>
              </a:lnSpc>
            </a:pPr>
            <a:r>
              <a:rPr sz="2100" b="1">
                <a:solidFill>
                  <a:srgbClr val="76B900"/>
                </a:solidFill>
                <a:latin typeface="Apple SD Gothic Neo"/>
                <a:ea typeface="Apple SD Gothic Neo"/>
                <a:cs typeface="Apple SD Gothic Neo"/>
              </a:rPr>
              <a:t>DGX Spark</a:t>
            </a:r>
            <a:r>
              <a:rPr sz="1800" b="0">
                <a:solidFill>
                  <a:srgbClr val="172B27"/>
                </a:solidFill>
                <a:latin typeface="Apple SD Gothic Neo"/>
                <a:ea typeface="Apple SD Gothic Neo"/>
                <a:cs typeface="Apple SD Gothic Neo"/>
              </a:rPr>
              <a:t> 위 System 1+2</a:t>
            </a:r>
          </a:p>
        </p:txBody>
      </p:sp>
      <p:sp>
        <p:nvSpPr>
          <p:cNvPr id="14" name="TextBox 13"/>
          <p:cNvSpPr txBox="1"/>
          <p:nvPr/>
        </p:nvSpPr>
        <p:spPr>
          <a:xfrm>
            <a:off x="731520" y="4480560"/>
            <a:ext cx="10698480" cy="914400"/>
          </a:xfrm>
          <a:prstGeom prst="rect">
            <a:avLst/>
          </a:prstGeom>
          <a:noFill/>
        </p:spPr>
        <p:txBody>
          <a:bodyPr wrap="square" lIns="18288" rIns="18288" tIns="18288" bIns="18288" anchor="t">
            <a:spAutoFit/>
          </a:bodyPr>
          <a:lstStyle/>
          <a:p>
            <a:pPr algn="ctr">
              <a:lnSpc>
                <a:spcPct val="115000"/>
              </a:lnSpc>
            </a:pPr>
            <a:r>
              <a:rPr sz="3600" b="1">
                <a:solidFill>
                  <a:srgbClr val="244E41"/>
                </a:solidFill>
                <a:latin typeface="Apple SD Gothic Neo"/>
                <a:ea typeface="Apple SD Gothic Neo"/>
                <a:cs typeface="Apple SD Gothic Neo"/>
              </a:rPr>
              <a:t>판단은 엔지니어가, 자료 수집은 Plant가.</a:t>
            </a:r>
          </a:p>
        </p:txBody>
      </p:sp>
      <p:sp>
        <p:nvSpPr>
          <p:cNvPr id="15" name="TextBox 14"/>
          <p:cNvSpPr txBox="1"/>
          <p:nvPr/>
        </p:nvSpPr>
        <p:spPr>
          <a:xfrm>
            <a:off x="731520" y="5669280"/>
            <a:ext cx="10698480" cy="365760"/>
          </a:xfrm>
          <a:prstGeom prst="rect">
            <a:avLst/>
          </a:prstGeom>
          <a:noFill/>
        </p:spPr>
        <p:txBody>
          <a:bodyPr wrap="square" lIns="18288" rIns="18288" tIns="18288" bIns="18288" anchor="t">
            <a:spAutoFit/>
          </a:bodyPr>
          <a:lstStyle/>
          <a:p>
            <a:pPr algn="ctr">
              <a:lnSpc>
                <a:spcPct val="115000"/>
              </a:lnSpc>
            </a:pPr>
            <a:r>
              <a:rPr sz="1600" b="0">
                <a:solidFill>
                  <a:srgbClr val="62736A"/>
                </a:solidFill>
                <a:latin typeface="Apple SD Gothic Neo"/>
                <a:ea typeface="Apple SD Gothic Neo"/>
                <a:cs typeface="Apple SD Gothic Neo"/>
              </a:rPr>
              <a:t>데모는 저장된 실제 실행 기록을 재생합니다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