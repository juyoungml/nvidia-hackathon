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겨울에 한 집에서 '난방이 안 된다'는 신고가 들어왔습니다. 그런데 계측값을 보면 공급온도는 목표와 거의 같습니다. 숫자는 정상인데 방은 추운 상황이죠. 저희 Plant Reliability Agent는 이런 신고가 들어오면, 엔지니어보다 먼저 AI 에이전트가 첫 조사를 해 두는 도구입니다. 에이전트의 두뇌는 NVIDIA Nemotron 3 Ultra입니다.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이상 신고가 오면 엔지니어는 계측 데이터, 과거 신고, 정비 기록을 시스템마다 하나씩 열어 봅니다. 더 어려운 건 계측이 정상처럼 보일 때입니다. 숫자만 보면 문제가 없으니, 어디부터 봐야 할지 판단하기가 힘듭니다. 저희는 이 첫 조사 단계를 에이전트에게 맡겨 보기로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지역난방은 한 곳에서 만든 뜨거운 물을 도시 배관으로 보내고, 건물마다 있는 서브스테이션에서 열을 건물 배관으로 옮기는 방식입니다. 이 공개 데이터에는 공급온도 센서 기록은 있지만, 건물 안 배관의 유량이나 실내 온도는 없습니다. 샤워기 물이 뜨거워도 수압이 약하면 씻기 어렵죠. 온도가 정상이어도 방이 추울 수 있는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공개 데이터 PreDist v2의 사례입니다. 2019년 1월 9일 오후 2시 18분, 17번 서브스테이션 고객이 난방이 안 된다고 신고했습니다. 신고 직전 마지막 계측은 2시 10분, 공급온도 63.9도, 목표 63.8도로 정상처럼 보입니다. 하지만 24시간, 10분 간격 144개 기록을 보면 그전에 두 선이 여러 번 벌어졌고, 차이가 최대 13.4도까지 났습니다.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Nemotron 3 Ultra가 스스로 어떤 자료를 볼지 골랐습니다. 최근 계측, 센서 설명, 과거 신고, 정비 기록, 목표에서 벗어난 시간대, 그리고 1시부터 2시 18분 구간을 다시 조회했습니다. 모델과 도구 실행 시간은 약 20초입니다. 결과는 원본 기록에 연결된 점검 3가지와, 데이터로는 알 수 없는 것의 목록입니다. 최종 판단은 엔지니어가 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구조는 단순합니다. 신고 내용과 접수 시각이 들어오면, NVIDIA NIM에서 돌아가는 Nemotron 3 Ultra가 읽을 자료를 고릅니다. 읽기 전용 도구 6종은 NeMo Agent Toolkit으로 실행되고, 결과가 다시 모델로 돌아옵니다. 마지막으로 모든 점검 항목이 원본 기록에 연결됐는지 검사한 뒤 엔지니어에게 전달합니다. 초록색이 NVIDIA 기술입니다.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 기술이 각각 무슨 일을 했는지 정리했습니다. Nemotron 3 Ultra는 두뇌입니다. 어떤 자료를 읽을지 스스로 고르고, 결과를 대조해 정해진 JSON 형식으로 점검안을 만듭니다. 데모 전체의 핵심 경로입니다. NeMo Agent Toolkit은 읽기 도구 6종을 등록하고 실행합니다. 직접 호출과 결과가 같은지 검사했고, 사례 52에서 모델이 고른 조회 6회를 실행했습니다. 조사 순서 루프 자체는 저희 Python 코드입니다. OpenShell은 안전장치로, 시험 데이터에서 허용 파일 읽기만 통과하고 나머지는 차단되는 것을 확인했습니다. 전체 경로 적용은 아직입니다.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자료와 같은 출력 형식으로 신고 4건을 돌렸고, 참고 기준으로 Anthropic Claude Sonnet 5를 읽기와 검색만 허용해 비교했습니다. 근거 연결 검사 통과는 Ultra 4건 중 2건, Sonnet 4건 모두입니다. Ultra가 놓친 2건은 조회 6회를 다 쓰고 정리하지 못한 경우였습니다. 한도에 닿으면 모은 자료로 정리하도록 고쳤고, 사례 52에서 6회 조회, 27.8초, 점검 3개로 확인했지만 2/4에는 넣지 않았습니다. 둘 다 끝낸 2건의 내용 검토는 48점 만점에 41대 42입니다. 이것은 진단 정확도가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단계는 세 가지입니다. 먼저 현장 엔지니어에게 이 점검안이 실제로 쓸모 있는지 평가받고, 새 사건으로 다시 검증합니다. 그 다음 발전소로 넓히고, Nemotron Nano로 수만 개 신호를 상시 감시하는 쪽으로 가려고 합니다. 오늘 데모는 저장된 실제 실행 기록을 재생한 것입니다. 판단은 엔지니어가, 자료 수집은 Plant가 합니다.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9F4"/>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44E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914400" y="1554480"/>
            <a:ext cx="10058400" cy="1097280"/>
          </a:xfrm>
          <a:prstGeom prst="rect">
            <a:avLst/>
          </a:prstGeom>
          <a:noFill/>
        </p:spPr>
        <p:txBody>
          <a:bodyPr wrap="square" lIns="18288" rIns="18288" tIns="18288" bIns="18288" anchor="t">
            <a:spAutoFit/>
          </a:bodyPr>
          <a:lstStyle/>
          <a:p>
            <a:pPr algn="l">
              <a:lnSpc>
                <a:spcPct val="115000"/>
              </a:lnSpc>
            </a:pPr>
            <a:r>
              <a:rPr sz="5400" b="1">
                <a:solidFill>
                  <a:srgbClr val="172B27"/>
                </a:solidFill>
                <a:latin typeface="Apple SD Gothic Neo"/>
                <a:ea typeface="Apple SD Gothic Neo"/>
                <a:cs typeface="Apple SD Gothic Neo"/>
              </a:rPr>
              <a:t>계측은 정상인데, 방은 춥다</a:t>
            </a:r>
          </a:p>
        </p:txBody>
      </p:sp>
      <p:sp>
        <p:nvSpPr>
          <p:cNvPr id="4" name="TextBox 3"/>
          <p:cNvSpPr txBox="1"/>
          <p:nvPr/>
        </p:nvSpPr>
        <p:spPr>
          <a:xfrm>
            <a:off x="914400" y="2743200"/>
            <a:ext cx="10058400" cy="731520"/>
          </a:xfrm>
          <a:prstGeom prst="rect">
            <a:avLst/>
          </a:prstGeom>
          <a:noFill/>
        </p:spPr>
        <p:txBody>
          <a:bodyPr wrap="square" lIns="18288" rIns="18288" tIns="18288" bIns="18288" anchor="t">
            <a:spAutoFit/>
          </a:bodyPr>
          <a:lstStyle/>
          <a:p>
            <a:pPr algn="l">
              <a:lnSpc>
                <a:spcPct val="115000"/>
              </a:lnSpc>
            </a:pPr>
            <a:r>
              <a:rPr sz="3200" b="1">
                <a:solidFill>
                  <a:srgbClr val="244E41"/>
                </a:solidFill>
                <a:latin typeface="Apple SD Gothic Neo"/>
                <a:ea typeface="Apple SD Gothic Neo"/>
                <a:cs typeface="Apple SD Gothic Neo"/>
              </a:rPr>
              <a:t>Plant Reliability Agent</a:t>
            </a:r>
          </a:p>
        </p:txBody>
      </p:sp>
      <p:sp>
        <p:nvSpPr>
          <p:cNvPr id="5" name="Rectangle 4"/>
          <p:cNvSpPr/>
          <p:nvPr/>
        </p:nvSpPr>
        <p:spPr>
          <a:xfrm>
            <a:off x="914400" y="3611880"/>
            <a:ext cx="1097280" cy="54864"/>
          </a:xfrm>
          <a:prstGeom prst="rect">
            <a:avLst/>
          </a:prstGeom>
          <a:solidFill>
            <a:srgbClr val="D06B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3931920"/>
            <a:ext cx="10058400" cy="548640"/>
          </a:xfrm>
          <a:prstGeom prst="rect">
            <a:avLst/>
          </a:prstGeom>
          <a:noFill/>
        </p:spPr>
        <p:txBody>
          <a:bodyPr wrap="square" lIns="18288" rIns="18288" tIns="18288" bIns="18288" anchor="t">
            <a:spAutoFit/>
          </a:bodyPr>
          <a:lstStyle/>
          <a:p>
            <a:pPr algn="l">
              <a:lnSpc>
                <a:spcPct val="115000"/>
              </a:lnSpc>
            </a:pPr>
            <a:r>
              <a:rPr sz="2400" b="0">
                <a:solidFill>
                  <a:srgbClr val="172B27"/>
                </a:solidFill>
                <a:latin typeface="Apple SD Gothic Neo"/>
                <a:ea typeface="Apple SD Gothic Neo"/>
                <a:cs typeface="Apple SD Gothic Neo"/>
              </a:rPr>
              <a:t>설비 이상 신고가 들어오면, 첫 조사는 AI 에이전트가 먼저</a:t>
            </a:r>
          </a:p>
        </p:txBody>
      </p:sp>
      <p:sp>
        <p:nvSpPr>
          <p:cNvPr id="7" name="TextBox 6"/>
          <p:cNvSpPr txBox="1"/>
          <p:nvPr/>
        </p:nvSpPr>
        <p:spPr>
          <a:xfrm>
            <a:off x="914400" y="5120640"/>
            <a:ext cx="10058400" cy="457200"/>
          </a:xfrm>
          <a:prstGeom prst="rect">
            <a:avLst/>
          </a:prstGeom>
          <a:noFill/>
        </p:spPr>
        <p:txBody>
          <a:bodyPr wrap="square" lIns="18288" rIns="18288" tIns="18288" bIns="18288" anchor="t">
            <a:spAutoFit/>
          </a:bodyPr>
          <a:lstStyle/>
          <a:p>
            <a:pPr algn="l">
              <a:lnSpc>
                <a:spcPct val="115000"/>
              </a:lnSpc>
            </a:pPr>
            <a:r>
              <a:rPr sz="2000" b="0">
                <a:solidFill>
                  <a:srgbClr val="62736A"/>
                </a:solidFill>
                <a:latin typeface="Apple SD Gothic Neo"/>
                <a:ea typeface="Apple SD Gothic Neo"/>
                <a:cs typeface="Apple SD Gothic Neo"/>
              </a:rPr>
              <a:t>Built with </a:t>
            </a:r>
            <a:r>
              <a:rPr sz="2000" b="1">
                <a:solidFill>
                  <a:srgbClr val="76B900"/>
                </a:solidFill>
                <a:latin typeface="Apple SD Gothic Neo"/>
                <a:ea typeface="Apple SD Gothic Neo"/>
                <a:cs typeface="Apple SD Gothic Neo"/>
              </a:rPr>
              <a:t>NVIDIA Nemotron 3 Ultra</a:t>
            </a:r>
          </a:p>
        </p:txBody>
      </p:sp>
      <p:sp>
        <p:nvSpPr>
          <p:cNvPr id="8" name="TextBox 7"/>
          <p:cNvSpPr txBox="1"/>
          <p:nvPr/>
        </p:nvSpPr>
        <p:spPr>
          <a:xfrm>
            <a:off x="914400" y="6035040"/>
            <a:ext cx="10058400" cy="365760"/>
          </a:xfrm>
          <a:prstGeom prst="rect">
            <a:avLst/>
          </a:prstGeom>
          <a:noFill/>
        </p:spPr>
        <p:txBody>
          <a:bodyPr wrap="square" lIns="18288" rIns="18288" tIns="18288" bIns="18288" anchor="t">
            <a:spAutoFit/>
          </a:bodyPr>
          <a:lstStyle/>
          <a:p>
            <a:pPr algn="l">
              <a:lnSpc>
                <a:spcPct val="115000"/>
              </a:lnSpc>
            </a:pPr>
            <a:r>
              <a:rPr sz="1400" b="0">
                <a:solidFill>
                  <a:srgbClr val="62736A"/>
                </a:solidFill>
                <a:latin typeface="Apple SD Gothic Neo"/>
                <a:ea typeface="Apple SD Gothic Neo"/>
                <a:cs typeface="Apple SD Gothic Neo"/>
              </a:rPr>
              <a:t>NVIDIA Korea Agentic AI Hackathon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9F4"/>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lIns="18288" rIns="18288" tIns="18288" bIns="18288" anchor="t">
            <a:spAutoFit/>
          </a:bodyPr>
          <a:lstStyle/>
          <a:p>
            <a:pPr algn="l">
              <a:lnSpc>
                <a:spcPct val="115000"/>
              </a:lnSpc>
            </a:pPr>
            <a:r>
              <a:rPr sz="1600" b="1">
                <a:solidFill>
                  <a:srgbClr val="D06B3D"/>
                </a:solidFill>
                <a:latin typeface="Apple SD Gothic Neo"/>
                <a:ea typeface="Apple SD Gothic Neo"/>
                <a:cs typeface="Apple SD Gothic Neo"/>
              </a:rPr>
              <a:t>문제</a:t>
            </a:r>
          </a:p>
        </p:txBody>
      </p:sp>
      <p:sp>
        <p:nvSpPr>
          <p:cNvPr id="3" name="TextBox 2"/>
          <p:cNvSpPr txBox="1"/>
          <p:nvPr/>
        </p:nvSpPr>
        <p:spPr>
          <a:xfrm>
            <a:off x="731520" y="777240"/>
            <a:ext cx="10789920" cy="822960"/>
          </a:xfrm>
          <a:prstGeom prst="rect">
            <a:avLst/>
          </a:prstGeom>
          <a:noFill/>
        </p:spPr>
        <p:txBody>
          <a:bodyPr wrap="square" lIns="18288" rIns="18288" tIns="18288" bIns="18288" anchor="t">
            <a:spAutoFit/>
          </a:bodyPr>
          <a:lstStyle/>
          <a:p>
            <a:pPr algn="l">
              <a:lnSpc>
                <a:spcPct val="115000"/>
              </a:lnSpc>
            </a:pPr>
            <a:r>
              <a:rPr sz="3600" b="1">
                <a:solidFill>
                  <a:srgbClr val="172B27"/>
                </a:solidFill>
                <a:latin typeface="Apple SD Gothic Neo"/>
                <a:ea typeface="Apple SD Gothic Neo"/>
                <a:cs typeface="Apple SD Gothic Neo"/>
              </a:rPr>
              <a:t>신고 한 건에, 자료는 여러 곳</a:t>
            </a:r>
          </a:p>
        </p:txBody>
      </p:sp>
      <p:sp>
        <p:nvSpPr>
          <p:cNvPr id="4" name="Rounded Rectangle 3"/>
          <p:cNvSpPr/>
          <p:nvPr/>
        </p:nvSpPr>
        <p:spPr>
          <a:xfrm>
            <a:off x="731520" y="2103120"/>
            <a:ext cx="2103120" cy="1097280"/>
          </a:xfrm>
          <a:prstGeom prst="roundRect">
            <a:avLst>
              <a:gd name="adj" fmla="val 12000"/>
            </a:avLst>
          </a:prstGeom>
          <a:solidFill>
            <a:srgbClr val="D06B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200" b="1">
                <a:solidFill>
                  <a:srgbClr val="FFFFFF"/>
                </a:solidFill>
                <a:latin typeface="Apple SD Gothic Neo"/>
                <a:ea typeface="Apple SD Gothic Neo"/>
                <a:cs typeface="Apple SD Gothic Neo"/>
              </a:rPr>
              <a:t>이상 신고</a:t>
            </a:r>
          </a:p>
        </p:txBody>
      </p:sp>
      <p:sp>
        <p:nvSpPr>
          <p:cNvPr id="5" name="Rounded Rectangle 4"/>
          <p:cNvSpPr/>
          <p:nvPr/>
        </p:nvSpPr>
        <p:spPr>
          <a:xfrm>
            <a:off x="3931920" y="1783080"/>
            <a:ext cx="2560320" cy="54864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000" b="0">
                <a:solidFill>
                  <a:srgbClr val="172B27"/>
                </a:solidFill>
                <a:latin typeface="Apple SD Gothic Neo"/>
                <a:ea typeface="Apple SD Gothic Neo"/>
                <a:cs typeface="Apple SD Gothic Neo"/>
              </a:rPr>
              <a:t>계측 데이터</a:t>
            </a:r>
          </a:p>
        </p:txBody>
      </p:sp>
      <p:cxnSp>
        <p:nvCxnSpPr>
          <p:cNvPr id="6" name="Connector 5"/>
          <p:cNvCxnSpPr/>
          <p:nvPr/>
        </p:nvCxnSpPr>
        <p:spPr>
          <a:xfrm flipV="1">
            <a:off x="2834640" y="2057400"/>
            <a:ext cx="1097280" cy="594360"/>
          </a:xfrm>
          <a:prstGeom prst="line">
            <a:avLst/>
          </a:prstGeom>
          <a:ln w="25400">
            <a:solidFill>
              <a:srgbClr val="6273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931920" y="2468880"/>
            <a:ext cx="2560320" cy="54864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000" b="0">
                <a:solidFill>
                  <a:srgbClr val="172B27"/>
                </a:solidFill>
                <a:latin typeface="Apple SD Gothic Neo"/>
                <a:ea typeface="Apple SD Gothic Neo"/>
                <a:cs typeface="Apple SD Gothic Neo"/>
              </a:rPr>
              <a:t>과거 신고</a:t>
            </a:r>
          </a:p>
        </p:txBody>
      </p:sp>
      <p:cxnSp>
        <p:nvCxnSpPr>
          <p:cNvPr id="8" name="Connector 7"/>
          <p:cNvCxnSpPr/>
          <p:nvPr/>
        </p:nvCxnSpPr>
        <p:spPr>
          <a:xfrm>
            <a:off x="2834640" y="2651760"/>
            <a:ext cx="1097280" cy="91440"/>
          </a:xfrm>
          <a:prstGeom prst="line">
            <a:avLst/>
          </a:prstGeom>
          <a:ln w="25400">
            <a:solidFill>
              <a:srgbClr val="6273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931920" y="3154680"/>
            <a:ext cx="2560320" cy="54864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000" b="0">
                <a:solidFill>
                  <a:srgbClr val="172B27"/>
                </a:solidFill>
                <a:latin typeface="Apple SD Gothic Neo"/>
                <a:ea typeface="Apple SD Gothic Neo"/>
                <a:cs typeface="Apple SD Gothic Neo"/>
              </a:rPr>
              <a:t>정비 기록</a:t>
            </a:r>
          </a:p>
        </p:txBody>
      </p:sp>
      <p:cxnSp>
        <p:nvCxnSpPr>
          <p:cNvPr id="10" name="Connector 9"/>
          <p:cNvCxnSpPr/>
          <p:nvPr/>
        </p:nvCxnSpPr>
        <p:spPr>
          <a:xfrm>
            <a:off x="2834640" y="2651760"/>
            <a:ext cx="1097280" cy="777240"/>
          </a:xfrm>
          <a:prstGeom prst="line">
            <a:avLst/>
          </a:prstGeom>
          <a:ln w="25400">
            <a:solidFill>
              <a:srgbClr val="6273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949440" y="1874519"/>
            <a:ext cx="4572000" cy="1645920"/>
          </a:xfrm>
          <a:prstGeom prst="rect">
            <a:avLst/>
          </a:prstGeom>
          <a:noFill/>
        </p:spPr>
        <p:txBody>
          <a:bodyPr wrap="square" lIns="18288" rIns="18288" tIns="18288" bIns="18288" anchor="t">
            <a:spAutoFit/>
          </a:bodyPr>
          <a:lstStyle/>
          <a:p>
            <a:pPr algn="l">
              <a:lnSpc>
                <a:spcPct val="115000"/>
              </a:lnSpc>
            </a:pPr>
            <a:r>
              <a:rPr sz="2200" b="0">
                <a:solidFill>
                  <a:srgbClr val="62736A"/>
                </a:solidFill>
                <a:latin typeface="Apple SD Gothic Neo"/>
                <a:ea typeface="Apple SD Gothic Neo"/>
                <a:cs typeface="Apple SD Gothic Neo"/>
              </a:rPr>
              <a:t>엔지니어가</a:t>
            </a:r>
          </a:p>
          <a:p>
            <a:pPr algn="l">
              <a:lnSpc>
                <a:spcPct val="115000"/>
              </a:lnSpc>
            </a:pPr>
            <a:r>
              <a:rPr sz="2200" b="0">
                <a:solidFill>
                  <a:srgbClr val="62736A"/>
                </a:solidFill>
                <a:latin typeface="Apple SD Gothic Neo"/>
                <a:ea typeface="Apple SD Gothic Neo"/>
                <a:cs typeface="Apple SD Gothic Neo"/>
              </a:rPr>
              <a:t>하나씩 열어 보고</a:t>
            </a:r>
          </a:p>
          <a:p>
            <a:pPr algn="l">
              <a:lnSpc>
                <a:spcPct val="115000"/>
              </a:lnSpc>
            </a:pPr>
            <a:r>
              <a:rPr sz="2200" b="0">
                <a:solidFill>
                  <a:srgbClr val="62736A"/>
                </a:solidFill>
                <a:latin typeface="Apple SD Gothic Neo"/>
                <a:ea typeface="Apple SD Gothic Neo"/>
                <a:cs typeface="Apple SD Gothic Neo"/>
              </a:rPr>
              <a:t>직접 맞춰 본다</a:t>
            </a:r>
          </a:p>
        </p:txBody>
      </p:sp>
      <p:sp>
        <p:nvSpPr>
          <p:cNvPr id="12" name="Rounded Rectangle 11"/>
          <p:cNvSpPr/>
          <p:nvPr/>
        </p:nvSpPr>
        <p:spPr>
          <a:xfrm>
            <a:off x="731520" y="4206240"/>
            <a:ext cx="10698480" cy="1371600"/>
          </a:xfrm>
          <a:prstGeom prst="roundRect">
            <a:avLst>
              <a:gd name="adj" fmla="val 12000"/>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4343400"/>
            <a:ext cx="10058400" cy="1097280"/>
          </a:xfrm>
          <a:prstGeom prst="rect">
            <a:avLst/>
          </a:prstGeom>
          <a:noFill/>
        </p:spPr>
        <p:txBody>
          <a:bodyPr wrap="square" lIns="18288" rIns="18288" tIns="18288" bIns="18288" anchor="ctr">
            <a:spAutoFit/>
          </a:bodyPr>
          <a:lstStyle/>
          <a:p>
            <a:pPr algn="l">
              <a:lnSpc>
                <a:spcPct val="115000"/>
              </a:lnSpc>
            </a:pPr>
            <a:r>
              <a:rPr sz="2600" b="0">
                <a:solidFill>
                  <a:srgbClr val="172B27"/>
                </a:solidFill>
                <a:latin typeface="Apple SD Gothic Neo"/>
                <a:ea typeface="Apple SD Gothic Neo"/>
                <a:cs typeface="Apple SD Gothic Neo"/>
              </a:rPr>
              <a:t>계측이 정상처럼 보이면 </a:t>
            </a:r>
            <a:r>
              <a:rPr sz="2600" b="1">
                <a:solidFill>
                  <a:srgbClr val="D06B3D"/>
                </a:solidFill>
                <a:latin typeface="Apple SD Gothic Neo"/>
                <a:ea typeface="Apple SD Gothic Neo"/>
                <a:cs typeface="Apple SD Gothic Neo"/>
              </a:rPr>
              <a:t>더 어렵다</a:t>
            </a:r>
          </a:p>
          <a:p>
            <a:pPr algn="l">
              <a:lnSpc>
                <a:spcPct val="115000"/>
              </a:lnSpc>
            </a:pPr>
            <a:r>
              <a:rPr sz="2600" b="0">
                <a:solidFill>
                  <a:srgbClr val="172B27"/>
                </a:solidFill>
                <a:latin typeface="Apple SD Gothic Neo"/>
                <a:ea typeface="Apple SD Gothic Neo"/>
                <a:cs typeface="Apple SD Gothic Neo"/>
              </a:rPr>
              <a:t>숫자에 문제가 없으니, 어디부터 볼지 정하기 힘들다</a:t>
            </a:r>
          </a:p>
        </p:txBody>
      </p:sp>
      <p:sp>
        <p:nvSpPr>
          <p:cNvPr id="14" name="TextBox 13"/>
          <p:cNvSpPr txBox="1"/>
          <p:nvPr/>
        </p:nvSpPr>
        <p:spPr>
          <a:xfrm>
            <a:off x="11155680" y="6355080"/>
            <a:ext cx="731520" cy="274320"/>
          </a:xfrm>
          <a:prstGeom prst="rect">
            <a:avLst/>
          </a:prstGeom>
          <a:noFill/>
        </p:spPr>
        <p:txBody>
          <a:bodyPr wrap="square" lIns="18288" rIns="18288" tIns="18288" bIns="18288" anchor="t">
            <a:spAutoFit/>
          </a:bodyPr>
          <a:lstStyle/>
          <a:p>
            <a:pPr algn="r">
              <a:lnSpc>
                <a:spcPct val="115000"/>
              </a:lnSpc>
            </a:pPr>
            <a:r>
              <a:rPr sz="1200" b="0">
                <a:solidFill>
                  <a:srgbClr val="62736A"/>
                </a:solidFill>
                <a:latin typeface="Apple SD Gothic Neo"/>
                <a:ea typeface="Apple SD Gothic Neo"/>
                <a:cs typeface="Apple SD Gothic Ne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9F4"/>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lIns="18288" rIns="18288" tIns="18288" bIns="18288" anchor="t">
            <a:spAutoFit/>
          </a:bodyPr>
          <a:lstStyle/>
          <a:p>
            <a:pPr algn="l">
              <a:lnSpc>
                <a:spcPct val="115000"/>
              </a:lnSpc>
            </a:pPr>
            <a:r>
              <a:rPr sz="1600" b="1">
                <a:solidFill>
                  <a:srgbClr val="D06B3D"/>
                </a:solidFill>
                <a:latin typeface="Apple SD Gothic Neo"/>
                <a:ea typeface="Apple SD Gothic Neo"/>
                <a:cs typeface="Apple SD Gothic Neo"/>
              </a:rPr>
              <a:t>처음 보시는 분께</a:t>
            </a:r>
          </a:p>
        </p:txBody>
      </p:sp>
      <p:sp>
        <p:nvSpPr>
          <p:cNvPr id="3" name="TextBox 2"/>
          <p:cNvSpPr txBox="1"/>
          <p:nvPr/>
        </p:nvSpPr>
        <p:spPr>
          <a:xfrm>
            <a:off x="731520" y="777240"/>
            <a:ext cx="10789920" cy="822960"/>
          </a:xfrm>
          <a:prstGeom prst="rect">
            <a:avLst/>
          </a:prstGeom>
          <a:noFill/>
        </p:spPr>
        <p:txBody>
          <a:bodyPr wrap="square" lIns="18288" rIns="18288" tIns="18288" bIns="18288" anchor="t">
            <a:spAutoFit/>
          </a:bodyPr>
          <a:lstStyle/>
          <a:p>
            <a:pPr algn="l">
              <a:lnSpc>
                <a:spcPct val="115000"/>
              </a:lnSpc>
            </a:pPr>
            <a:r>
              <a:rPr sz="3600" b="1">
                <a:solidFill>
                  <a:srgbClr val="172B27"/>
                </a:solidFill>
                <a:latin typeface="Apple SD Gothic Neo"/>
                <a:ea typeface="Apple SD Gothic Neo"/>
                <a:cs typeface="Apple SD Gothic Neo"/>
              </a:rPr>
              <a:t>30초 배경: 지역난방</a:t>
            </a:r>
          </a:p>
        </p:txBody>
      </p:sp>
      <p:sp>
        <p:nvSpPr>
          <p:cNvPr id="4" name="Rounded Rectangle 3"/>
          <p:cNvSpPr/>
          <p:nvPr/>
        </p:nvSpPr>
        <p:spPr>
          <a:xfrm>
            <a:off x="731520" y="2148840"/>
            <a:ext cx="1828800" cy="114300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900" b="0">
                <a:solidFill>
                  <a:srgbClr val="172B27"/>
                </a:solidFill>
                <a:latin typeface="Apple SD Gothic Neo"/>
                <a:ea typeface="Apple SD Gothic Neo"/>
                <a:cs typeface="Apple SD Gothic Neo"/>
              </a:rPr>
              <a:t>열 생산 시설</a:t>
            </a:r>
          </a:p>
        </p:txBody>
      </p:sp>
      <p:cxnSp>
        <p:nvCxnSpPr>
          <p:cNvPr id="5" name="Connector 4"/>
          <p:cNvCxnSpPr/>
          <p:nvPr/>
        </p:nvCxnSpPr>
        <p:spPr>
          <a:xfrm>
            <a:off x="2596896" y="2715768"/>
            <a:ext cx="310895" cy="0"/>
          </a:xfrm>
          <a:prstGeom prst="line">
            <a:avLst/>
          </a:prstGeom>
          <a:ln w="31750">
            <a:solidFill>
              <a:srgbClr val="D06B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944368" y="2148840"/>
            <a:ext cx="1828800" cy="114300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900" b="0">
                <a:solidFill>
                  <a:srgbClr val="172B27"/>
                </a:solidFill>
                <a:latin typeface="Apple SD Gothic Neo"/>
                <a:ea typeface="Apple SD Gothic Neo"/>
                <a:cs typeface="Apple SD Gothic Neo"/>
              </a:rPr>
              <a:t>도시 배관</a:t>
            </a:r>
          </a:p>
          <a:p>
            <a:pPr algn="ctr">
              <a:lnSpc>
                <a:spcPct val="115000"/>
              </a:lnSpc>
            </a:pPr>
            <a:r>
              <a:rPr sz="1900" b="0">
                <a:solidFill>
                  <a:srgbClr val="172B27"/>
                </a:solidFill>
                <a:latin typeface="Apple SD Gothic Neo"/>
                <a:ea typeface="Apple SD Gothic Neo"/>
                <a:cs typeface="Apple SD Gothic Neo"/>
              </a:rPr>
              <a:t>(1차)</a:t>
            </a:r>
          </a:p>
        </p:txBody>
      </p:sp>
      <p:cxnSp>
        <p:nvCxnSpPr>
          <p:cNvPr id="7" name="Connector 6"/>
          <p:cNvCxnSpPr/>
          <p:nvPr/>
        </p:nvCxnSpPr>
        <p:spPr>
          <a:xfrm>
            <a:off x="4809744" y="2715768"/>
            <a:ext cx="310896" cy="0"/>
          </a:xfrm>
          <a:prstGeom prst="line">
            <a:avLst/>
          </a:prstGeom>
          <a:ln w="31750">
            <a:solidFill>
              <a:srgbClr val="D06B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157216" y="2148840"/>
            <a:ext cx="1828800" cy="1143000"/>
          </a:xfrm>
          <a:prstGeom prst="roundRect">
            <a:avLst>
              <a:gd name="adj" fmla="val 12000"/>
            </a:avLst>
          </a:prstGeom>
          <a:solidFill>
            <a:srgbClr val="244E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900" b="1">
                <a:solidFill>
                  <a:srgbClr val="FFFFFF"/>
                </a:solidFill>
                <a:latin typeface="Apple SD Gothic Neo"/>
                <a:ea typeface="Apple SD Gothic Neo"/>
                <a:cs typeface="Apple SD Gothic Neo"/>
              </a:rPr>
              <a:t>서브스테이션</a:t>
            </a:r>
          </a:p>
          <a:p>
            <a:pPr algn="ctr">
              <a:lnSpc>
                <a:spcPct val="115000"/>
              </a:lnSpc>
            </a:pPr>
            <a:r>
              <a:rPr sz="1900" b="1">
                <a:solidFill>
                  <a:srgbClr val="FFFFFF"/>
                </a:solidFill>
                <a:latin typeface="Apple SD Gothic Neo"/>
                <a:ea typeface="Apple SD Gothic Neo"/>
                <a:cs typeface="Apple SD Gothic Neo"/>
              </a:rPr>
              <a:t>(열교환)</a:t>
            </a:r>
          </a:p>
        </p:txBody>
      </p:sp>
      <p:cxnSp>
        <p:nvCxnSpPr>
          <p:cNvPr id="9" name="Connector 8"/>
          <p:cNvCxnSpPr/>
          <p:nvPr/>
        </p:nvCxnSpPr>
        <p:spPr>
          <a:xfrm>
            <a:off x="7022592" y="2715768"/>
            <a:ext cx="310896" cy="0"/>
          </a:xfrm>
          <a:prstGeom prst="line">
            <a:avLst/>
          </a:prstGeom>
          <a:ln w="31750">
            <a:solidFill>
              <a:srgbClr val="D06B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370064" y="2148840"/>
            <a:ext cx="1828800" cy="114300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900" b="0">
                <a:solidFill>
                  <a:srgbClr val="172B27"/>
                </a:solidFill>
                <a:latin typeface="Apple SD Gothic Neo"/>
                <a:ea typeface="Apple SD Gothic Neo"/>
                <a:cs typeface="Apple SD Gothic Neo"/>
              </a:rPr>
              <a:t>건물 배관</a:t>
            </a:r>
          </a:p>
          <a:p>
            <a:pPr algn="ctr">
              <a:lnSpc>
                <a:spcPct val="115000"/>
              </a:lnSpc>
            </a:pPr>
            <a:r>
              <a:rPr sz="1900" b="0">
                <a:solidFill>
                  <a:srgbClr val="172B27"/>
                </a:solidFill>
                <a:latin typeface="Apple SD Gothic Neo"/>
                <a:ea typeface="Apple SD Gothic Neo"/>
                <a:cs typeface="Apple SD Gothic Neo"/>
              </a:rPr>
              <a:t>(2차)</a:t>
            </a:r>
          </a:p>
        </p:txBody>
      </p:sp>
      <p:cxnSp>
        <p:nvCxnSpPr>
          <p:cNvPr id="11" name="Connector 10"/>
          <p:cNvCxnSpPr/>
          <p:nvPr/>
        </p:nvCxnSpPr>
        <p:spPr>
          <a:xfrm>
            <a:off x="9235440" y="2715768"/>
            <a:ext cx="310896" cy="0"/>
          </a:xfrm>
          <a:prstGeom prst="line">
            <a:avLst/>
          </a:prstGeom>
          <a:ln w="31750">
            <a:solidFill>
              <a:srgbClr val="D06B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582912" y="2148840"/>
            <a:ext cx="1828800" cy="114300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900" b="0">
                <a:solidFill>
                  <a:srgbClr val="172B27"/>
                </a:solidFill>
                <a:latin typeface="Apple SD Gothic Neo"/>
                <a:ea typeface="Apple SD Gothic Neo"/>
                <a:cs typeface="Apple SD Gothic Neo"/>
              </a:rPr>
              <a:t>집 안</a:t>
            </a:r>
          </a:p>
          <a:p>
            <a:pPr algn="ctr">
              <a:lnSpc>
                <a:spcPct val="115000"/>
              </a:lnSpc>
            </a:pPr>
            <a:r>
              <a:rPr sz="1900" b="0">
                <a:solidFill>
                  <a:srgbClr val="172B27"/>
                </a:solidFill>
                <a:latin typeface="Apple SD Gothic Neo"/>
                <a:ea typeface="Apple SD Gothic Neo"/>
                <a:cs typeface="Apple SD Gothic Neo"/>
              </a:rPr>
              <a:t>라디에이터</a:t>
            </a:r>
          </a:p>
        </p:txBody>
      </p:sp>
      <p:cxnSp>
        <p:nvCxnSpPr>
          <p:cNvPr id="13" name="Connector 12"/>
          <p:cNvCxnSpPr/>
          <p:nvPr/>
        </p:nvCxnSpPr>
        <p:spPr>
          <a:xfrm>
            <a:off x="6071616" y="3337560"/>
            <a:ext cx="0" cy="411479"/>
          </a:xfrm>
          <a:prstGeom prst="line">
            <a:avLst/>
          </a:prstGeom>
          <a:ln w="19050">
            <a:solidFill>
              <a:srgbClr val="244E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57216" y="3794760"/>
            <a:ext cx="1828800" cy="868680"/>
          </a:xfrm>
          <a:prstGeom prst="roundRect">
            <a:avLst>
              <a:gd name="adj" fmla="val 12000"/>
            </a:avLst>
          </a:prstGeom>
          <a:solidFill>
            <a:srgbClr val="FBF9F4"/>
          </a:solidFill>
          <a:ln w="22225">
            <a:solidFill>
              <a:srgbClr val="244E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700" b="0">
                <a:solidFill>
                  <a:srgbClr val="172B27"/>
                </a:solidFill>
                <a:latin typeface="Apple SD Gothic Neo"/>
                <a:ea typeface="Apple SD Gothic Neo"/>
                <a:cs typeface="Apple SD Gothic Neo"/>
              </a:rPr>
              <a:t>공급온도 센서</a:t>
            </a:r>
          </a:p>
          <a:p>
            <a:pPr algn="ctr">
              <a:lnSpc>
                <a:spcPct val="115000"/>
              </a:lnSpc>
            </a:pPr>
            <a:r>
              <a:rPr sz="1800" b="1">
                <a:solidFill>
                  <a:srgbClr val="244E41"/>
                </a:solidFill>
                <a:latin typeface="Apple SD Gothic Neo"/>
                <a:ea typeface="Apple SD Gothic Neo"/>
                <a:cs typeface="Apple SD Gothic Neo"/>
              </a:rPr>
              <a:t>기록 있음</a:t>
            </a:r>
          </a:p>
        </p:txBody>
      </p:sp>
      <p:cxnSp>
        <p:nvCxnSpPr>
          <p:cNvPr id="15" name="Connector 14"/>
          <p:cNvCxnSpPr/>
          <p:nvPr/>
        </p:nvCxnSpPr>
        <p:spPr>
          <a:xfrm>
            <a:off x="8284464" y="3337560"/>
            <a:ext cx="0" cy="411479"/>
          </a:xfrm>
          <a:prstGeom prst="line">
            <a:avLst/>
          </a:prstGeom>
          <a:ln w="19050">
            <a:solidFill>
              <a:srgbClr val="D06B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70064" y="3794760"/>
            <a:ext cx="1828800" cy="868680"/>
          </a:xfrm>
          <a:prstGeom prst="roundRect">
            <a:avLst>
              <a:gd name="adj" fmla="val 12000"/>
            </a:avLst>
          </a:prstGeom>
          <a:solidFill>
            <a:srgbClr val="FBF9F4"/>
          </a:solidFill>
          <a:ln w="22225">
            <a:solidFill>
              <a:srgbClr val="D06B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700" b="0">
                <a:solidFill>
                  <a:srgbClr val="172B27"/>
                </a:solidFill>
                <a:latin typeface="Apple SD Gothic Neo"/>
                <a:ea typeface="Apple SD Gothic Neo"/>
                <a:cs typeface="Apple SD Gothic Neo"/>
              </a:rPr>
              <a:t>건물 배관 유량</a:t>
            </a:r>
          </a:p>
          <a:p>
            <a:pPr algn="ctr">
              <a:lnSpc>
                <a:spcPct val="115000"/>
              </a:lnSpc>
            </a:pPr>
            <a:r>
              <a:rPr sz="1800" b="1">
                <a:solidFill>
                  <a:srgbClr val="D06B3D"/>
                </a:solidFill>
                <a:latin typeface="Apple SD Gothic Neo"/>
                <a:ea typeface="Apple SD Gothic Neo"/>
                <a:cs typeface="Apple SD Gothic Neo"/>
              </a:rPr>
              <a:t>기록 없음</a:t>
            </a:r>
          </a:p>
        </p:txBody>
      </p:sp>
      <p:cxnSp>
        <p:nvCxnSpPr>
          <p:cNvPr id="17" name="Connector 16"/>
          <p:cNvCxnSpPr/>
          <p:nvPr/>
        </p:nvCxnSpPr>
        <p:spPr>
          <a:xfrm>
            <a:off x="10497312" y="3337560"/>
            <a:ext cx="0" cy="411479"/>
          </a:xfrm>
          <a:prstGeom prst="line">
            <a:avLst/>
          </a:prstGeom>
          <a:ln w="19050">
            <a:solidFill>
              <a:srgbClr val="D06B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582912" y="3794760"/>
            <a:ext cx="1828800" cy="868680"/>
          </a:xfrm>
          <a:prstGeom prst="roundRect">
            <a:avLst>
              <a:gd name="adj" fmla="val 12000"/>
            </a:avLst>
          </a:prstGeom>
          <a:solidFill>
            <a:srgbClr val="FBF9F4"/>
          </a:solidFill>
          <a:ln w="22225">
            <a:solidFill>
              <a:srgbClr val="D06B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700" b="0">
                <a:solidFill>
                  <a:srgbClr val="172B27"/>
                </a:solidFill>
                <a:latin typeface="Apple SD Gothic Neo"/>
                <a:ea typeface="Apple SD Gothic Neo"/>
                <a:cs typeface="Apple SD Gothic Neo"/>
              </a:rPr>
              <a:t>실내 온도</a:t>
            </a:r>
          </a:p>
          <a:p>
            <a:pPr algn="ctr">
              <a:lnSpc>
                <a:spcPct val="115000"/>
              </a:lnSpc>
            </a:pPr>
            <a:r>
              <a:rPr sz="1800" b="1">
                <a:solidFill>
                  <a:srgbClr val="D06B3D"/>
                </a:solidFill>
                <a:latin typeface="Apple SD Gothic Neo"/>
                <a:ea typeface="Apple SD Gothic Neo"/>
                <a:cs typeface="Apple SD Gothic Neo"/>
              </a:rPr>
              <a:t>기록 없음</a:t>
            </a:r>
          </a:p>
        </p:txBody>
      </p:sp>
      <p:sp>
        <p:nvSpPr>
          <p:cNvPr id="19" name="Rounded Rectangle 18"/>
          <p:cNvSpPr/>
          <p:nvPr/>
        </p:nvSpPr>
        <p:spPr>
          <a:xfrm>
            <a:off x="731520" y="5166360"/>
            <a:ext cx="10698480" cy="868680"/>
          </a:xfrm>
          <a:prstGeom prst="roundRect">
            <a:avLst>
              <a:gd name="adj" fmla="val 12000"/>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97280" y="5166360"/>
            <a:ext cx="10058400" cy="868680"/>
          </a:xfrm>
          <a:prstGeom prst="rect">
            <a:avLst/>
          </a:prstGeom>
          <a:noFill/>
        </p:spPr>
        <p:txBody>
          <a:bodyPr wrap="square" lIns="18288" rIns="18288" tIns="18288" bIns="18288" anchor="ctr">
            <a:spAutoFit/>
          </a:bodyPr>
          <a:lstStyle/>
          <a:p>
            <a:pPr algn="l">
              <a:lnSpc>
                <a:spcPct val="115000"/>
              </a:lnSpc>
            </a:pPr>
            <a:r>
              <a:rPr sz="2400" b="1">
                <a:solidFill>
                  <a:srgbClr val="244E41"/>
                </a:solidFill>
                <a:latin typeface="Apple SD Gothic Neo"/>
                <a:ea typeface="Apple SD Gothic Neo"/>
                <a:cs typeface="Apple SD Gothic Neo"/>
              </a:rPr>
              <a:t>샤워기 물이 뜨거워도, 수압이 약하면 씻기 어렵다</a:t>
            </a:r>
          </a:p>
        </p:txBody>
      </p:sp>
      <p:sp>
        <p:nvSpPr>
          <p:cNvPr id="21" name="TextBox 20"/>
          <p:cNvSpPr txBox="1"/>
          <p:nvPr/>
        </p:nvSpPr>
        <p:spPr>
          <a:xfrm>
            <a:off x="11155680" y="6355080"/>
            <a:ext cx="731520" cy="274320"/>
          </a:xfrm>
          <a:prstGeom prst="rect">
            <a:avLst/>
          </a:prstGeom>
          <a:noFill/>
        </p:spPr>
        <p:txBody>
          <a:bodyPr wrap="square" lIns="18288" rIns="18288" tIns="18288" bIns="18288" anchor="t">
            <a:spAutoFit/>
          </a:bodyPr>
          <a:lstStyle/>
          <a:p>
            <a:pPr algn="r">
              <a:lnSpc>
                <a:spcPct val="115000"/>
              </a:lnSpc>
            </a:pPr>
            <a:r>
              <a:rPr sz="1200" b="0">
                <a:solidFill>
                  <a:srgbClr val="62736A"/>
                </a:solidFill>
                <a:latin typeface="Apple SD Gothic Neo"/>
                <a:ea typeface="Apple SD Gothic Neo"/>
                <a:cs typeface="Apple SD Gothic Ne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9F4"/>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lIns="18288" rIns="18288" tIns="18288" bIns="18288" anchor="t">
            <a:spAutoFit/>
          </a:bodyPr>
          <a:lstStyle/>
          <a:p>
            <a:pPr algn="l">
              <a:lnSpc>
                <a:spcPct val="115000"/>
              </a:lnSpc>
            </a:pPr>
            <a:r>
              <a:rPr sz="1600" b="1">
                <a:solidFill>
                  <a:srgbClr val="D06B3D"/>
                </a:solidFill>
                <a:latin typeface="Apple SD Gothic Neo"/>
                <a:ea typeface="Apple SD Gothic Neo"/>
                <a:cs typeface="Apple SD Gothic Neo"/>
              </a:rPr>
              <a:t>사례 29 · 공개 데이터 PreDist v2</a:t>
            </a:r>
          </a:p>
        </p:txBody>
      </p:sp>
      <p:sp>
        <p:nvSpPr>
          <p:cNvPr id="3" name="TextBox 2"/>
          <p:cNvSpPr txBox="1"/>
          <p:nvPr/>
        </p:nvSpPr>
        <p:spPr>
          <a:xfrm>
            <a:off x="731520" y="777240"/>
            <a:ext cx="10789920" cy="822960"/>
          </a:xfrm>
          <a:prstGeom prst="rect">
            <a:avLst/>
          </a:prstGeom>
          <a:noFill/>
        </p:spPr>
        <p:txBody>
          <a:bodyPr wrap="square" lIns="18288" rIns="18288" tIns="18288" bIns="18288" anchor="t">
            <a:spAutoFit/>
          </a:bodyPr>
          <a:lstStyle/>
          <a:p>
            <a:pPr algn="l">
              <a:lnSpc>
                <a:spcPct val="115000"/>
              </a:lnSpc>
            </a:pPr>
            <a:r>
              <a:rPr sz="3600" b="1">
                <a:solidFill>
                  <a:srgbClr val="172B27"/>
                </a:solidFill>
                <a:latin typeface="Apple SD Gothic Neo"/>
                <a:ea typeface="Apple SD Gothic Neo"/>
                <a:cs typeface="Apple SD Gothic Neo"/>
              </a:rPr>
              <a:t>실제 신고: "난방이 안 된다"</a:t>
            </a:r>
          </a:p>
        </p:txBody>
      </p:sp>
      <p:sp>
        <p:nvSpPr>
          <p:cNvPr id="4" name="TextBox 3"/>
          <p:cNvSpPr txBox="1"/>
          <p:nvPr/>
        </p:nvSpPr>
        <p:spPr>
          <a:xfrm>
            <a:off x="731520" y="1783080"/>
            <a:ext cx="3657600" cy="365760"/>
          </a:xfrm>
          <a:prstGeom prst="rect">
            <a:avLst/>
          </a:prstGeom>
          <a:noFill/>
        </p:spPr>
        <p:txBody>
          <a:bodyPr wrap="square" lIns="18288" rIns="18288" tIns="18288" bIns="18288" anchor="t">
            <a:spAutoFit/>
          </a:bodyPr>
          <a:lstStyle/>
          <a:p>
            <a:pPr algn="l">
              <a:lnSpc>
                <a:spcPct val="115000"/>
              </a:lnSpc>
            </a:pPr>
            <a:r>
              <a:rPr sz="1800" b="0">
                <a:solidFill>
                  <a:srgbClr val="62736A"/>
                </a:solidFill>
                <a:latin typeface="Apple SD Gothic Neo"/>
                <a:ea typeface="Apple SD Gothic Neo"/>
                <a:cs typeface="Apple SD Gothic Neo"/>
              </a:rPr>
              <a:t>신고 직전 마지막 계측 (14:10)</a:t>
            </a:r>
          </a:p>
        </p:txBody>
      </p:sp>
      <p:sp>
        <p:nvSpPr>
          <p:cNvPr id="5" name="TextBox 4"/>
          <p:cNvSpPr txBox="1"/>
          <p:nvPr/>
        </p:nvSpPr>
        <p:spPr>
          <a:xfrm>
            <a:off x="731520" y="2194560"/>
            <a:ext cx="3840480" cy="822960"/>
          </a:xfrm>
          <a:prstGeom prst="rect">
            <a:avLst/>
          </a:prstGeom>
          <a:noFill/>
        </p:spPr>
        <p:txBody>
          <a:bodyPr wrap="square" lIns="18288" rIns="18288" tIns="18288" bIns="18288" anchor="t">
            <a:spAutoFit/>
          </a:bodyPr>
          <a:lstStyle/>
          <a:p>
            <a:pPr algn="l">
              <a:lnSpc>
                <a:spcPct val="115000"/>
              </a:lnSpc>
            </a:pPr>
            <a:r>
              <a:rPr sz="4400" b="1">
                <a:solidFill>
                  <a:srgbClr val="244E41"/>
                </a:solidFill>
                <a:latin typeface="Apple SD Gothic Neo"/>
                <a:ea typeface="Apple SD Gothic Neo"/>
                <a:cs typeface="Apple SD Gothic Neo"/>
              </a:rPr>
              <a:t>63.9°C</a:t>
            </a:r>
            <a:r>
              <a:rPr sz="2000" b="0">
                <a:solidFill>
                  <a:srgbClr val="62736A"/>
                </a:solidFill>
                <a:latin typeface="Apple SD Gothic Neo"/>
                <a:ea typeface="Apple SD Gothic Neo"/>
                <a:cs typeface="Apple SD Gothic Neo"/>
              </a:rPr>
              <a:t>  공급</a:t>
            </a:r>
          </a:p>
        </p:txBody>
      </p:sp>
      <p:sp>
        <p:nvSpPr>
          <p:cNvPr id="6" name="TextBox 5"/>
          <p:cNvSpPr txBox="1"/>
          <p:nvPr/>
        </p:nvSpPr>
        <p:spPr>
          <a:xfrm>
            <a:off x="731520" y="2971800"/>
            <a:ext cx="3840480" cy="822960"/>
          </a:xfrm>
          <a:prstGeom prst="rect">
            <a:avLst/>
          </a:prstGeom>
          <a:noFill/>
        </p:spPr>
        <p:txBody>
          <a:bodyPr wrap="square" lIns="18288" rIns="18288" tIns="18288" bIns="18288" anchor="t">
            <a:spAutoFit/>
          </a:bodyPr>
          <a:lstStyle/>
          <a:p>
            <a:pPr algn="l">
              <a:lnSpc>
                <a:spcPct val="115000"/>
              </a:lnSpc>
            </a:pPr>
            <a:r>
              <a:rPr sz="4400" b="1">
                <a:solidFill>
                  <a:srgbClr val="D06B3D"/>
                </a:solidFill>
                <a:latin typeface="Apple SD Gothic Neo"/>
                <a:ea typeface="Apple SD Gothic Neo"/>
                <a:cs typeface="Apple SD Gothic Neo"/>
              </a:rPr>
              <a:t>63.8°C</a:t>
            </a:r>
            <a:r>
              <a:rPr sz="2000" b="0">
                <a:solidFill>
                  <a:srgbClr val="62736A"/>
                </a:solidFill>
                <a:latin typeface="Apple SD Gothic Neo"/>
                <a:ea typeface="Apple SD Gothic Neo"/>
                <a:cs typeface="Apple SD Gothic Neo"/>
              </a:rPr>
              <a:t>  목표</a:t>
            </a:r>
          </a:p>
        </p:txBody>
      </p:sp>
      <p:sp>
        <p:nvSpPr>
          <p:cNvPr id="7" name="TextBox 6"/>
          <p:cNvSpPr txBox="1"/>
          <p:nvPr/>
        </p:nvSpPr>
        <p:spPr>
          <a:xfrm>
            <a:off x="731520" y="3840480"/>
            <a:ext cx="3840480" cy="457200"/>
          </a:xfrm>
          <a:prstGeom prst="rect">
            <a:avLst/>
          </a:prstGeom>
          <a:noFill/>
        </p:spPr>
        <p:txBody>
          <a:bodyPr wrap="square" lIns="18288" rIns="18288" tIns="18288" bIns="18288" anchor="t">
            <a:spAutoFit/>
          </a:bodyPr>
          <a:lstStyle/>
          <a:p>
            <a:pPr algn="l">
              <a:lnSpc>
                <a:spcPct val="115000"/>
              </a:lnSpc>
            </a:pPr>
            <a:r>
              <a:rPr sz="2200" b="1">
                <a:solidFill>
                  <a:srgbClr val="172B27"/>
                </a:solidFill>
                <a:latin typeface="Apple SD Gothic Neo"/>
                <a:ea typeface="Apple SD Gothic Neo"/>
                <a:cs typeface="Apple SD Gothic Neo"/>
              </a:rPr>
              <a:t>→ 정상처럼 보인다</a:t>
            </a:r>
          </a:p>
        </p:txBody>
      </p:sp>
      <p:sp>
        <p:nvSpPr>
          <p:cNvPr id="8" name="TextBox 7"/>
          <p:cNvSpPr txBox="1"/>
          <p:nvPr/>
        </p:nvSpPr>
        <p:spPr>
          <a:xfrm>
            <a:off x="731520" y="4754880"/>
            <a:ext cx="3931920" cy="1280160"/>
          </a:xfrm>
          <a:prstGeom prst="rect">
            <a:avLst/>
          </a:prstGeom>
          <a:noFill/>
        </p:spPr>
        <p:txBody>
          <a:bodyPr wrap="square" lIns="18288" rIns="18288" tIns="18288" bIns="18288" anchor="t">
            <a:spAutoFit/>
          </a:bodyPr>
          <a:lstStyle/>
          <a:p>
            <a:pPr algn="l">
              <a:lnSpc>
                <a:spcPct val="115000"/>
              </a:lnSpc>
            </a:pPr>
            <a:r>
              <a:rPr sz="2200" b="0">
                <a:solidFill>
                  <a:srgbClr val="172B27"/>
                </a:solidFill>
                <a:latin typeface="Apple SD Gothic Neo"/>
                <a:ea typeface="Apple SD Gothic Neo"/>
                <a:cs typeface="Apple SD Gothic Neo"/>
              </a:rPr>
              <a:t>하지만 그전 24시간에는</a:t>
            </a:r>
          </a:p>
          <a:p>
            <a:pPr algn="l">
              <a:lnSpc>
                <a:spcPct val="115000"/>
              </a:lnSpc>
            </a:pPr>
            <a:r>
              <a:rPr sz="2200" b="1">
                <a:solidFill>
                  <a:srgbClr val="D06B3D"/>
                </a:solidFill>
                <a:latin typeface="Apple SD Gothic Neo"/>
                <a:ea typeface="Apple SD Gothic Neo"/>
                <a:cs typeface="Apple SD Gothic Neo"/>
              </a:rPr>
              <a:t>최대 13.4°C</a:t>
            </a:r>
            <a:r>
              <a:rPr sz="2200" b="0">
                <a:solidFill>
                  <a:srgbClr val="172B27"/>
                </a:solidFill>
                <a:latin typeface="Apple SD Gothic Neo"/>
                <a:ea typeface="Apple SD Gothic Neo"/>
                <a:cs typeface="Apple SD Gothic Neo"/>
              </a:rPr>
              <a:t> 벌어졌다</a:t>
            </a:r>
          </a:p>
        </p:txBody>
      </p:sp>
      <p:pic>
        <p:nvPicPr>
          <p:cNvPr id="9" name="Picture 8" descr="system2-case29-trend.png"/>
          <p:cNvPicPr>
            <a:picLocks noChangeAspect="1"/>
          </p:cNvPicPr>
          <p:nvPr/>
        </p:nvPicPr>
        <p:blipFill>
          <a:blip r:embed="rId3"/>
          <a:stretch>
            <a:fillRect/>
          </a:stretch>
        </p:blipFill>
        <p:spPr>
          <a:xfrm>
            <a:off x="4846320" y="1920240"/>
            <a:ext cx="6766560" cy="2748915"/>
          </a:xfrm>
          <a:prstGeom prst="rect">
            <a:avLst/>
          </a:prstGeom>
        </p:spPr>
      </p:pic>
      <p:sp>
        <p:nvSpPr>
          <p:cNvPr id="10" name="TextBox 9"/>
          <p:cNvSpPr txBox="1"/>
          <p:nvPr/>
        </p:nvSpPr>
        <p:spPr>
          <a:xfrm>
            <a:off x="4846320" y="4846320"/>
            <a:ext cx="6766560" cy="365760"/>
          </a:xfrm>
          <a:prstGeom prst="rect">
            <a:avLst/>
          </a:prstGeom>
          <a:noFill/>
        </p:spPr>
        <p:txBody>
          <a:bodyPr wrap="square" lIns="18288" rIns="18288" tIns="18288" bIns="18288" anchor="t">
            <a:spAutoFit/>
          </a:bodyPr>
          <a:lstStyle/>
          <a:p>
            <a:pPr algn="l">
              <a:lnSpc>
                <a:spcPct val="115000"/>
              </a:lnSpc>
            </a:pPr>
            <a:r>
              <a:rPr sz="1600" b="0">
                <a:solidFill>
                  <a:srgbClr val="244E41"/>
                </a:solidFill>
                <a:latin typeface="Apple SD Gothic Neo"/>
                <a:ea typeface="Apple SD Gothic Neo"/>
                <a:cs typeface="Apple SD Gothic Neo"/>
              </a:rPr>
              <a:t>■ </a:t>
            </a:r>
            <a:r>
              <a:rPr sz="1600" b="0">
                <a:solidFill>
                  <a:srgbClr val="62736A"/>
                </a:solidFill>
                <a:latin typeface="Apple SD Gothic Neo"/>
                <a:ea typeface="Apple SD Gothic Neo"/>
                <a:cs typeface="Apple SD Gothic Neo"/>
              </a:rPr>
              <a:t>실제 공급온도   </a:t>
            </a:r>
            <a:r>
              <a:rPr sz="1600" b="0">
                <a:solidFill>
                  <a:srgbClr val="D06B3D"/>
                </a:solidFill>
                <a:latin typeface="Apple SD Gothic Neo"/>
                <a:ea typeface="Apple SD Gothic Neo"/>
                <a:cs typeface="Apple SD Gothic Neo"/>
              </a:rPr>
              <a:t>■ </a:t>
            </a:r>
            <a:r>
              <a:rPr sz="1600" b="0">
                <a:solidFill>
                  <a:srgbClr val="62736A"/>
                </a:solidFill>
                <a:latin typeface="Apple SD Gothic Neo"/>
                <a:ea typeface="Apple SD Gothic Neo"/>
                <a:cs typeface="Apple SD Gothic Neo"/>
              </a:rPr>
              <a:t>목표 온도</a:t>
            </a:r>
          </a:p>
        </p:txBody>
      </p:sp>
      <p:sp>
        <p:nvSpPr>
          <p:cNvPr id="11" name="TextBox 10"/>
          <p:cNvSpPr txBox="1"/>
          <p:nvPr/>
        </p:nvSpPr>
        <p:spPr>
          <a:xfrm>
            <a:off x="4846320" y="5212080"/>
            <a:ext cx="6766560" cy="365760"/>
          </a:xfrm>
          <a:prstGeom prst="rect">
            <a:avLst/>
          </a:prstGeom>
          <a:noFill/>
        </p:spPr>
        <p:txBody>
          <a:bodyPr wrap="square" lIns="18288" rIns="18288" tIns="18288" bIns="18288" anchor="t">
            <a:spAutoFit/>
          </a:bodyPr>
          <a:lstStyle/>
          <a:p>
            <a:pPr algn="l">
              <a:lnSpc>
                <a:spcPct val="115000"/>
              </a:lnSpc>
            </a:pPr>
            <a:r>
              <a:rPr sz="1500" b="0">
                <a:solidFill>
                  <a:srgbClr val="62736A"/>
                </a:solidFill>
                <a:latin typeface="Apple SD Gothic Neo"/>
                <a:ea typeface="Apple SD Gothic Neo"/>
                <a:cs typeface="Apple SD Gothic Neo"/>
              </a:rPr>
              <a:t>17번 서브스테이션 · 2019-01-09 14:18 신고 · 24시간, 10분 간격 144개 기록</a:t>
            </a:r>
          </a:p>
        </p:txBody>
      </p:sp>
      <p:sp>
        <p:nvSpPr>
          <p:cNvPr id="12" name="TextBox 11"/>
          <p:cNvSpPr txBox="1"/>
          <p:nvPr/>
        </p:nvSpPr>
        <p:spPr>
          <a:xfrm>
            <a:off x="11155680" y="6355080"/>
            <a:ext cx="731520" cy="274320"/>
          </a:xfrm>
          <a:prstGeom prst="rect">
            <a:avLst/>
          </a:prstGeom>
          <a:noFill/>
        </p:spPr>
        <p:txBody>
          <a:bodyPr wrap="square" lIns="18288" rIns="18288" tIns="18288" bIns="18288" anchor="t">
            <a:spAutoFit/>
          </a:bodyPr>
          <a:lstStyle/>
          <a:p>
            <a:pPr algn="r">
              <a:lnSpc>
                <a:spcPct val="115000"/>
              </a:lnSpc>
            </a:pPr>
            <a:r>
              <a:rPr sz="1200" b="0">
                <a:solidFill>
                  <a:srgbClr val="62736A"/>
                </a:solidFill>
                <a:latin typeface="Apple SD Gothic Neo"/>
                <a:ea typeface="Apple SD Gothic Neo"/>
                <a:cs typeface="Apple SD Gothic Ne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9F4"/>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lIns="18288" rIns="18288" tIns="18288" bIns="18288" anchor="t">
            <a:spAutoFit/>
          </a:bodyPr>
          <a:lstStyle/>
          <a:p>
            <a:pPr algn="l">
              <a:lnSpc>
                <a:spcPct val="115000"/>
              </a:lnSpc>
            </a:pPr>
            <a:r>
              <a:rPr sz="1600" b="1">
                <a:solidFill>
                  <a:srgbClr val="D06B3D"/>
                </a:solidFill>
                <a:latin typeface="Apple SD Gothic Neo"/>
                <a:ea typeface="Apple SD Gothic Neo"/>
                <a:cs typeface="Apple SD Gothic Neo"/>
              </a:rPr>
              <a:t>사례 29</a:t>
            </a:r>
          </a:p>
        </p:txBody>
      </p:sp>
      <p:sp>
        <p:nvSpPr>
          <p:cNvPr id="3" name="TextBox 2"/>
          <p:cNvSpPr txBox="1"/>
          <p:nvPr/>
        </p:nvSpPr>
        <p:spPr>
          <a:xfrm>
            <a:off x="731520" y="777240"/>
            <a:ext cx="10789920" cy="822960"/>
          </a:xfrm>
          <a:prstGeom prst="rect">
            <a:avLst/>
          </a:prstGeom>
          <a:noFill/>
        </p:spPr>
        <p:txBody>
          <a:bodyPr wrap="square" lIns="18288" rIns="18288" tIns="18288" bIns="18288" anchor="t">
            <a:spAutoFit/>
          </a:bodyPr>
          <a:lstStyle/>
          <a:p>
            <a:pPr algn="l">
              <a:lnSpc>
                <a:spcPct val="115000"/>
              </a:lnSpc>
            </a:pPr>
            <a:r>
              <a:rPr sz="3600" b="1">
                <a:solidFill>
                  <a:srgbClr val="172B27"/>
                </a:solidFill>
                <a:latin typeface="Apple SD Gothic Neo"/>
                <a:ea typeface="Apple SD Gothic Neo"/>
                <a:cs typeface="Apple SD Gothic Neo"/>
              </a:rPr>
              <a:t>에이전트가 한 일</a:t>
            </a:r>
          </a:p>
        </p:txBody>
      </p:sp>
      <p:sp>
        <p:nvSpPr>
          <p:cNvPr id="4" name="TextBox 3"/>
          <p:cNvSpPr txBox="1"/>
          <p:nvPr/>
        </p:nvSpPr>
        <p:spPr>
          <a:xfrm>
            <a:off x="731520" y="1783080"/>
            <a:ext cx="5120640" cy="365760"/>
          </a:xfrm>
          <a:prstGeom prst="rect">
            <a:avLst/>
          </a:prstGeom>
          <a:noFill/>
        </p:spPr>
        <p:txBody>
          <a:bodyPr wrap="square" lIns="18288" rIns="18288" tIns="18288" bIns="18288" anchor="t">
            <a:spAutoFit/>
          </a:bodyPr>
          <a:lstStyle/>
          <a:p>
            <a:pPr algn="l">
              <a:lnSpc>
                <a:spcPct val="115000"/>
              </a:lnSpc>
            </a:pPr>
            <a:r>
              <a:rPr sz="2000" b="1">
                <a:solidFill>
                  <a:srgbClr val="76B900"/>
                </a:solidFill>
                <a:latin typeface="Apple SD Gothic Neo"/>
                <a:ea typeface="Apple SD Gothic Neo"/>
                <a:cs typeface="Apple SD Gothic Neo"/>
              </a:rPr>
              <a:t>Nemotron 3 Ultra</a:t>
            </a:r>
            <a:r>
              <a:rPr sz="2000" b="0">
                <a:solidFill>
                  <a:srgbClr val="172B27"/>
                </a:solidFill>
                <a:latin typeface="Apple SD Gothic Neo"/>
                <a:ea typeface="Apple SD Gothic Neo"/>
                <a:cs typeface="Apple SD Gothic Neo"/>
              </a:rPr>
              <a:t>가 고른 자료 6종</a:t>
            </a:r>
          </a:p>
        </p:txBody>
      </p:sp>
      <p:sp>
        <p:nvSpPr>
          <p:cNvPr id="5" name="Rounded Rectangle 4"/>
          <p:cNvSpPr/>
          <p:nvPr/>
        </p:nvSpPr>
        <p:spPr>
          <a:xfrm>
            <a:off x="731520" y="2286000"/>
            <a:ext cx="2377440" cy="566928"/>
          </a:xfrm>
          <a:prstGeom prst="roundRect">
            <a:avLst>
              <a:gd name="adj" fmla="val 12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700" b="0">
                <a:solidFill>
                  <a:srgbClr val="172B27"/>
                </a:solidFill>
                <a:latin typeface="Apple SD Gothic Neo"/>
                <a:ea typeface="Apple SD Gothic Neo"/>
                <a:cs typeface="Apple SD Gothic Neo"/>
              </a:rPr>
              <a:t>최근 계측</a:t>
            </a:r>
          </a:p>
        </p:txBody>
      </p:sp>
      <p:sp>
        <p:nvSpPr>
          <p:cNvPr id="6" name="Rounded Rectangle 5"/>
          <p:cNvSpPr/>
          <p:nvPr/>
        </p:nvSpPr>
        <p:spPr>
          <a:xfrm>
            <a:off x="3246120" y="2286000"/>
            <a:ext cx="2377440" cy="566928"/>
          </a:xfrm>
          <a:prstGeom prst="roundRect">
            <a:avLst>
              <a:gd name="adj" fmla="val 12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700" b="0">
                <a:solidFill>
                  <a:srgbClr val="172B27"/>
                </a:solidFill>
                <a:latin typeface="Apple SD Gothic Neo"/>
                <a:ea typeface="Apple SD Gothic Neo"/>
                <a:cs typeface="Apple SD Gothic Neo"/>
              </a:rPr>
              <a:t>센서 설명</a:t>
            </a:r>
          </a:p>
        </p:txBody>
      </p:sp>
      <p:sp>
        <p:nvSpPr>
          <p:cNvPr id="7" name="Rounded Rectangle 6"/>
          <p:cNvSpPr/>
          <p:nvPr/>
        </p:nvSpPr>
        <p:spPr>
          <a:xfrm>
            <a:off x="731520" y="3017520"/>
            <a:ext cx="2377440" cy="566928"/>
          </a:xfrm>
          <a:prstGeom prst="roundRect">
            <a:avLst>
              <a:gd name="adj" fmla="val 12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700" b="0">
                <a:solidFill>
                  <a:srgbClr val="172B27"/>
                </a:solidFill>
                <a:latin typeface="Apple SD Gothic Neo"/>
                <a:ea typeface="Apple SD Gothic Neo"/>
                <a:cs typeface="Apple SD Gothic Neo"/>
              </a:rPr>
              <a:t>과거 신고</a:t>
            </a:r>
          </a:p>
        </p:txBody>
      </p:sp>
      <p:sp>
        <p:nvSpPr>
          <p:cNvPr id="8" name="Rounded Rectangle 7"/>
          <p:cNvSpPr/>
          <p:nvPr/>
        </p:nvSpPr>
        <p:spPr>
          <a:xfrm>
            <a:off x="3246120" y="3017520"/>
            <a:ext cx="2377440" cy="566928"/>
          </a:xfrm>
          <a:prstGeom prst="roundRect">
            <a:avLst>
              <a:gd name="adj" fmla="val 12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700" b="0">
                <a:solidFill>
                  <a:srgbClr val="172B27"/>
                </a:solidFill>
                <a:latin typeface="Apple SD Gothic Neo"/>
                <a:ea typeface="Apple SD Gothic Neo"/>
                <a:cs typeface="Apple SD Gothic Neo"/>
              </a:rPr>
              <a:t>정비 기록</a:t>
            </a:r>
          </a:p>
        </p:txBody>
      </p:sp>
      <p:sp>
        <p:nvSpPr>
          <p:cNvPr id="9" name="Rounded Rectangle 8"/>
          <p:cNvSpPr/>
          <p:nvPr/>
        </p:nvSpPr>
        <p:spPr>
          <a:xfrm>
            <a:off x="731520" y="3749039"/>
            <a:ext cx="2377440" cy="566928"/>
          </a:xfrm>
          <a:prstGeom prst="roundRect">
            <a:avLst>
              <a:gd name="adj" fmla="val 12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700" b="0">
                <a:solidFill>
                  <a:srgbClr val="172B27"/>
                </a:solidFill>
                <a:latin typeface="Apple SD Gothic Neo"/>
                <a:ea typeface="Apple SD Gothic Neo"/>
                <a:cs typeface="Apple SD Gothic Neo"/>
              </a:rPr>
              <a:t>목표 이탈 시간대</a:t>
            </a:r>
          </a:p>
        </p:txBody>
      </p:sp>
      <p:sp>
        <p:nvSpPr>
          <p:cNvPr id="10" name="Rounded Rectangle 9"/>
          <p:cNvSpPr/>
          <p:nvPr/>
        </p:nvSpPr>
        <p:spPr>
          <a:xfrm>
            <a:off x="3246120" y="3749039"/>
            <a:ext cx="2377440" cy="566928"/>
          </a:xfrm>
          <a:prstGeom prst="roundRect">
            <a:avLst>
              <a:gd name="adj" fmla="val 12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700" b="0">
                <a:solidFill>
                  <a:srgbClr val="172B27"/>
                </a:solidFill>
                <a:latin typeface="Apple SD Gothic Neo"/>
                <a:ea typeface="Apple SD Gothic Neo"/>
                <a:cs typeface="Apple SD Gothic Neo"/>
              </a:rPr>
              <a:t>13:00~14:18 재조회</a:t>
            </a:r>
          </a:p>
        </p:txBody>
      </p:sp>
      <p:sp>
        <p:nvSpPr>
          <p:cNvPr id="11" name="TextBox 10"/>
          <p:cNvSpPr txBox="1"/>
          <p:nvPr/>
        </p:nvSpPr>
        <p:spPr>
          <a:xfrm>
            <a:off x="731520" y="4572000"/>
            <a:ext cx="4937760" cy="822960"/>
          </a:xfrm>
          <a:prstGeom prst="rect">
            <a:avLst/>
          </a:prstGeom>
          <a:noFill/>
        </p:spPr>
        <p:txBody>
          <a:bodyPr wrap="square" lIns="18288" rIns="18288" tIns="18288" bIns="18288" anchor="t">
            <a:spAutoFit/>
          </a:bodyPr>
          <a:lstStyle/>
          <a:p>
            <a:pPr algn="l">
              <a:lnSpc>
                <a:spcPct val="115000"/>
              </a:lnSpc>
            </a:pPr>
            <a:r>
              <a:rPr sz="4000" b="1">
                <a:solidFill>
                  <a:srgbClr val="172B27"/>
                </a:solidFill>
                <a:latin typeface="Apple SD Gothic Neo"/>
                <a:ea typeface="Apple SD Gothic Neo"/>
                <a:cs typeface="Apple SD Gothic Neo"/>
              </a:rPr>
              <a:t>약 20초</a:t>
            </a:r>
          </a:p>
          <a:p>
            <a:pPr algn="l">
              <a:lnSpc>
                <a:spcPct val="115000"/>
              </a:lnSpc>
            </a:pPr>
            <a:r>
              <a:rPr sz="1500" b="0">
                <a:solidFill>
                  <a:srgbClr val="62736A"/>
                </a:solidFill>
                <a:latin typeface="Apple SD Gothic Neo"/>
                <a:ea typeface="Apple SD Gothic Neo"/>
                <a:cs typeface="Apple SD Gothic Neo"/>
              </a:rPr>
              <a:t>모델·도구 실행 시간 (현장 처리 시간 아님)</a:t>
            </a:r>
          </a:p>
        </p:txBody>
      </p:sp>
      <p:cxnSp>
        <p:nvCxnSpPr>
          <p:cNvPr id="12" name="Connector 11"/>
          <p:cNvCxnSpPr/>
          <p:nvPr/>
        </p:nvCxnSpPr>
        <p:spPr>
          <a:xfrm>
            <a:off x="5806440" y="3291840"/>
            <a:ext cx="548640" cy="0"/>
          </a:xfrm>
          <a:prstGeom prst="line">
            <a:avLst/>
          </a:prstGeom>
          <a:ln w="38100">
            <a:solidFill>
              <a:srgbClr val="D06B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92240" y="1783080"/>
            <a:ext cx="5120640" cy="365760"/>
          </a:xfrm>
          <a:prstGeom prst="rect">
            <a:avLst/>
          </a:prstGeom>
          <a:noFill/>
        </p:spPr>
        <p:txBody>
          <a:bodyPr wrap="square" lIns="18288" rIns="18288" tIns="18288" bIns="18288" anchor="t">
            <a:spAutoFit/>
          </a:bodyPr>
          <a:lstStyle/>
          <a:p>
            <a:pPr algn="l">
              <a:lnSpc>
                <a:spcPct val="115000"/>
              </a:lnSpc>
            </a:pPr>
            <a:r>
              <a:rPr sz="2000" b="0">
                <a:solidFill>
                  <a:srgbClr val="172B27"/>
                </a:solidFill>
                <a:latin typeface="Apple SD Gothic Neo"/>
                <a:ea typeface="Apple SD Gothic Neo"/>
                <a:cs typeface="Apple SD Gothic Neo"/>
              </a:rPr>
              <a:t>점검 3가지 · 원본 기록에 연결</a:t>
            </a:r>
          </a:p>
        </p:txBody>
      </p:sp>
      <p:sp>
        <p:nvSpPr>
          <p:cNvPr id="14" name="Rounded Rectangle 13"/>
          <p:cNvSpPr/>
          <p:nvPr/>
        </p:nvSpPr>
        <p:spPr>
          <a:xfrm>
            <a:off x="6492240" y="2286000"/>
            <a:ext cx="4937760" cy="566928"/>
          </a:xfrm>
          <a:prstGeom prst="roundRect">
            <a:avLst>
              <a:gd name="adj" fmla="val 12000"/>
            </a:avLst>
          </a:prstGeom>
          <a:solidFill>
            <a:srgbClr val="244E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15000"/>
              </a:lnSpc>
            </a:pPr>
            <a:r>
              <a:rPr sz="1900" b="1">
                <a:solidFill>
                  <a:srgbClr val="FFFFFF"/>
                </a:solidFill>
                <a:latin typeface="Apple SD Gothic Neo"/>
                <a:ea typeface="Apple SD Gothic Neo"/>
                <a:cs typeface="Apple SD Gothic Neo"/>
              </a:rPr>
              <a:t>① 실내·라디에이터 온도 확인</a:t>
            </a:r>
          </a:p>
        </p:txBody>
      </p:sp>
      <p:sp>
        <p:nvSpPr>
          <p:cNvPr id="15" name="Rounded Rectangle 14"/>
          <p:cNvSpPr/>
          <p:nvPr/>
        </p:nvSpPr>
        <p:spPr>
          <a:xfrm>
            <a:off x="6492240" y="3017520"/>
            <a:ext cx="4937760" cy="566928"/>
          </a:xfrm>
          <a:prstGeom prst="roundRect">
            <a:avLst>
              <a:gd name="adj" fmla="val 12000"/>
            </a:avLst>
          </a:prstGeom>
          <a:solidFill>
            <a:srgbClr val="244E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15000"/>
              </a:lnSpc>
            </a:pPr>
            <a:r>
              <a:rPr sz="1900" b="1">
                <a:solidFill>
                  <a:srgbClr val="FFFFFF"/>
                </a:solidFill>
                <a:latin typeface="Apple SD Gothic Neo"/>
                <a:ea typeface="Apple SD Gothic Neo"/>
                <a:cs typeface="Apple SD Gothic Neo"/>
              </a:rPr>
              <a:t>② 건물 배관 유량 측정</a:t>
            </a:r>
          </a:p>
        </p:txBody>
      </p:sp>
      <p:sp>
        <p:nvSpPr>
          <p:cNvPr id="16" name="Rounded Rectangle 15"/>
          <p:cNvSpPr/>
          <p:nvPr/>
        </p:nvSpPr>
        <p:spPr>
          <a:xfrm>
            <a:off x="6492240" y="3749039"/>
            <a:ext cx="4937760" cy="566928"/>
          </a:xfrm>
          <a:prstGeom prst="roundRect">
            <a:avLst>
              <a:gd name="adj" fmla="val 12000"/>
            </a:avLst>
          </a:prstGeom>
          <a:solidFill>
            <a:srgbClr val="244E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15000"/>
              </a:lnSpc>
            </a:pPr>
            <a:r>
              <a:rPr sz="1900" b="1">
                <a:solidFill>
                  <a:srgbClr val="FFFFFF"/>
                </a:solidFill>
                <a:latin typeface="Apple SD Gothic Neo"/>
                <a:ea typeface="Apple SD Gothic Neo"/>
                <a:cs typeface="Apple SD Gothic Neo"/>
              </a:rPr>
              <a:t>③ 제어기 설정·경보 기록 검토</a:t>
            </a:r>
          </a:p>
        </p:txBody>
      </p:sp>
      <p:sp>
        <p:nvSpPr>
          <p:cNvPr id="17" name="Rounded Rectangle 16"/>
          <p:cNvSpPr/>
          <p:nvPr/>
        </p:nvSpPr>
        <p:spPr>
          <a:xfrm>
            <a:off x="6492240" y="4526280"/>
            <a:ext cx="4937760" cy="566928"/>
          </a:xfrm>
          <a:prstGeom prst="roundRect">
            <a:avLst>
              <a:gd name="adj" fmla="val 12000"/>
            </a:avLst>
          </a:prstGeom>
          <a:solidFill>
            <a:srgbClr val="FBF9F4"/>
          </a:solidFill>
          <a:ln w="19050">
            <a:solidFill>
              <a:srgbClr val="D06B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15000"/>
              </a:lnSpc>
            </a:pPr>
            <a:r>
              <a:rPr sz="1800" b="0">
                <a:solidFill>
                  <a:srgbClr val="D06B3D"/>
                </a:solidFill>
                <a:latin typeface="Apple SD Gothic Neo"/>
                <a:ea typeface="Apple SD Gothic Neo"/>
                <a:cs typeface="Apple SD Gothic Neo"/>
              </a:rPr>
              <a:t>+ 데이터로 알 수 없는 것도 함께 전달</a:t>
            </a:r>
          </a:p>
        </p:txBody>
      </p:sp>
      <p:sp>
        <p:nvSpPr>
          <p:cNvPr id="18" name="TextBox 17"/>
          <p:cNvSpPr txBox="1"/>
          <p:nvPr/>
        </p:nvSpPr>
        <p:spPr>
          <a:xfrm>
            <a:off x="6492240" y="5349240"/>
            <a:ext cx="4937760" cy="457200"/>
          </a:xfrm>
          <a:prstGeom prst="rect">
            <a:avLst/>
          </a:prstGeom>
          <a:noFill/>
        </p:spPr>
        <p:txBody>
          <a:bodyPr wrap="square" lIns="18288" rIns="18288" tIns="18288" bIns="18288" anchor="t">
            <a:spAutoFit/>
          </a:bodyPr>
          <a:lstStyle/>
          <a:p>
            <a:pPr algn="l">
              <a:lnSpc>
                <a:spcPct val="115000"/>
              </a:lnSpc>
            </a:pPr>
            <a:r>
              <a:rPr sz="2200" b="1">
                <a:solidFill>
                  <a:srgbClr val="172B27"/>
                </a:solidFill>
                <a:latin typeface="Apple SD Gothic Neo"/>
                <a:ea typeface="Apple SD Gothic Neo"/>
                <a:cs typeface="Apple SD Gothic Neo"/>
              </a:rPr>
              <a:t>판단은 엔지니어가 한다</a:t>
            </a:r>
          </a:p>
        </p:txBody>
      </p:sp>
      <p:sp>
        <p:nvSpPr>
          <p:cNvPr id="19" name="TextBox 18"/>
          <p:cNvSpPr txBox="1"/>
          <p:nvPr/>
        </p:nvSpPr>
        <p:spPr>
          <a:xfrm>
            <a:off x="11155680" y="6355080"/>
            <a:ext cx="731520" cy="274320"/>
          </a:xfrm>
          <a:prstGeom prst="rect">
            <a:avLst/>
          </a:prstGeom>
          <a:noFill/>
        </p:spPr>
        <p:txBody>
          <a:bodyPr wrap="square" lIns="18288" rIns="18288" tIns="18288" bIns="18288" anchor="t">
            <a:spAutoFit/>
          </a:bodyPr>
          <a:lstStyle/>
          <a:p>
            <a:pPr algn="r">
              <a:lnSpc>
                <a:spcPct val="115000"/>
              </a:lnSpc>
            </a:pPr>
            <a:r>
              <a:rPr sz="1200" b="0">
                <a:solidFill>
                  <a:srgbClr val="62736A"/>
                </a:solidFill>
                <a:latin typeface="Apple SD Gothic Neo"/>
                <a:ea typeface="Apple SD Gothic Neo"/>
                <a:cs typeface="Apple SD Gothic Ne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9F4"/>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lIns="18288" rIns="18288" tIns="18288" bIns="18288" anchor="t">
            <a:spAutoFit/>
          </a:bodyPr>
          <a:lstStyle/>
          <a:p>
            <a:pPr algn="l">
              <a:lnSpc>
                <a:spcPct val="115000"/>
              </a:lnSpc>
            </a:pPr>
            <a:r>
              <a:rPr sz="1600" b="1">
                <a:solidFill>
                  <a:srgbClr val="D06B3D"/>
                </a:solidFill>
                <a:latin typeface="Apple SD Gothic Neo"/>
                <a:ea typeface="Apple SD Gothic Neo"/>
                <a:cs typeface="Apple SD Gothic Neo"/>
              </a:rPr>
              <a:t>어떻게 동작하나</a:t>
            </a:r>
          </a:p>
        </p:txBody>
      </p:sp>
      <p:sp>
        <p:nvSpPr>
          <p:cNvPr id="3" name="TextBox 2"/>
          <p:cNvSpPr txBox="1"/>
          <p:nvPr/>
        </p:nvSpPr>
        <p:spPr>
          <a:xfrm>
            <a:off x="731520" y="777240"/>
            <a:ext cx="10789920" cy="822960"/>
          </a:xfrm>
          <a:prstGeom prst="rect">
            <a:avLst/>
          </a:prstGeom>
          <a:noFill/>
        </p:spPr>
        <p:txBody>
          <a:bodyPr wrap="square" lIns="18288" rIns="18288" tIns="18288" bIns="18288" anchor="t">
            <a:spAutoFit/>
          </a:bodyPr>
          <a:lstStyle/>
          <a:p>
            <a:pPr algn="l">
              <a:lnSpc>
                <a:spcPct val="115000"/>
              </a:lnSpc>
            </a:pPr>
            <a:r>
              <a:rPr sz="3600" b="1">
                <a:solidFill>
                  <a:srgbClr val="172B27"/>
                </a:solidFill>
                <a:latin typeface="Apple SD Gothic Neo"/>
                <a:ea typeface="Apple SD Gothic Neo"/>
                <a:cs typeface="Apple SD Gothic Neo"/>
              </a:rPr>
              <a:t>구조</a:t>
            </a:r>
          </a:p>
        </p:txBody>
      </p:sp>
      <p:sp>
        <p:nvSpPr>
          <p:cNvPr id="4" name="Rounded Rectangle 3"/>
          <p:cNvSpPr/>
          <p:nvPr/>
        </p:nvSpPr>
        <p:spPr>
          <a:xfrm>
            <a:off x="731520" y="2743200"/>
            <a:ext cx="1828800" cy="118872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900" b="0">
                <a:solidFill>
                  <a:srgbClr val="172B27"/>
                </a:solidFill>
                <a:latin typeface="Apple SD Gothic Neo"/>
                <a:ea typeface="Apple SD Gothic Neo"/>
                <a:cs typeface="Apple SD Gothic Neo"/>
              </a:rPr>
              <a:t>신고</a:t>
            </a:r>
          </a:p>
          <a:p>
            <a:pPr algn="ctr">
              <a:lnSpc>
                <a:spcPct val="115000"/>
              </a:lnSpc>
            </a:pPr>
            <a:r>
              <a:rPr sz="1900" b="0">
                <a:solidFill>
                  <a:srgbClr val="172B27"/>
                </a:solidFill>
                <a:latin typeface="Apple SD Gothic Neo"/>
                <a:ea typeface="Apple SD Gothic Neo"/>
                <a:cs typeface="Apple SD Gothic Neo"/>
              </a:rPr>
              <a:t>+ 접수 시각</a:t>
            </a:r>
          </a:p>
        </p:txBody>
      </p:sp>
      <p:sp>
        <p:nvSpPr>
          <p:cNvPr id="5" name="Rounded Rectangle 4"/>
          <p:cNvSpPr/>
          <p:nvPr/>
        </p:nvSpPr>
        <p:spPr>
          <a:xfrm>
            <a:off x="3200400" y="2468880"/>
            <a:ext cx="2651760" cy="1737360"/>
          </a:xfrm>
          <a:prstGeom prst="roundRect">
            <a:avLst>
              <a:gd name="adj" fmla="val 12000"/>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100" b="1">
                <a:solidFill>
                  <a:srgbClr val="FFFFFF"/>
                </a:solidFill>
                <a:latin typeface="Apple SD Gothic Neo"/>
                <a:ea typeface="Apple SD Gothic Neo"/>
                <a:cs typeface="Apple SD Gothic Neo"/>
              </a:rPr>
              <a:t>Nemotron 3 Ultra</a:t>
            </a:r>
          </a:p>
          <a:p>
            <a:pPr algn="ctr">
              <a:lnSpc>
                <a:spcPct val="115000"/>
              </a:lnSpc>
            </a:pPr>
            <a:r>
              <a:rPr sz="1600" b="0">
                <a:solidFill>
                  <a:srgbClr val="FFFFFF"/>
                </a:solidFill>
                <a:latin typeface="Apple SD Gothic Neo"/>
                <a:ea typeface="Apple SD Gothic Neo"/>
                <a:cs typeface="Apple SD Gothic Neo"/>
              </a:rPr>
              <a:t>NVIDIA NIM</a:t>
            </a:r>
          </a:p>
        </p:txBody>
      </p:sp>
      <p:sp>
        <p:nvSpPr>
          <p:cNvPr id="6" name="Rounded Rectangle 5"/>
          <p:cNvSpPr/>
          <p:nvPr/>
        </p:nvSpPr>
        <p:spPr>
          <a:xfrm>
            <a:off x="3200400" y="4800600"/>
            <a:ext cx="2651760" cy="1325880"/>
          </a:xfrm>
          <a:prstGeom prst="roundRect">
            <a:avLst>
              <a:gd name="adj" fmla="val 12000"/>
            </a:avLst>
          </a:prstGeom>
          <a:solidFill>
            <a:srgbClr val="FFFFFF"/>
          </a:solidFill>
          <a:ln w="254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900" b="1">
                <a:solidFill>
                  <a:srgbClr val="172B27"/>
                </a:solidFill>
                <a:latin typeface="Apple SD Gothic Neo"/>
                <a:ea typeface="Apple SD Gothic Neo"/>
                <a:cs typeface="Apple SD Gothic Neo"/>
              </a:rPr>
              <a:t>읽기 전용 도구 6종</a:t>
            </a:r>
          </a:p>
          <a:p>
            <a:pPr algn="ctr">
              <a:lnSpc>
                <a:spcPct val="115000"/>
              </a:lnSpc>
            </a:pPr>
            <a:r>
              <a:rPr sz="1600" b="1">
                <a:solidFill>
                  <a:srgbClr val="76B900"/>
                </a:solidFill>
                <a:latin typeface="Apple SD Gothic Neo"/>
                <a:ea typeface="Apple SD Gothic Neo"/>
                <a:cs typeface="Apple SD Gothic Neo"/>
              </a:rPr>
              <a:t>NeMo Agent Toolkit</a:t>
            </a:r>
          </a:p>
        </p:txBody>
      </p:sp>
      <p:sp>
        <p:nvSpPr>
          <p:cNvPr id="7" name="Rounded Rectangle 6"/>
          <p:cNvSpPr/>
          <p:nvPr/>
        </p:nvSpPr>
        <p:spPr>
          <a:xfrm>
            <a:off x="6492240" y="2743200"/>
            <a:ext cx="2194560" cy="118872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900" b="0">
                <a:solidFill>
                  <a:srgbClr val="172B27"/>
                </a:solidFill>
                <a:latin typeface="Apple SD Gothic Neo"/>
                <a:ea typeface="Apple SD Gothic Neo"/>
                <a:cs typeface="Apple SD Gothic Neo"/>
              </a:rPr>
              <a:t>근거 연결</a:t>
            </a:r>
          </a:p>
          <a:p>
            <a:pPr algn="ctr">
              <a:lnSpc>
                <a:spcPct val="115000"/>
              </a:lnSpc>
            </a:pPr>
            <a:r>
              <a:rPr sz="1900" b="0">
                <a:solidFill>
                  <a:srgbClr val="172B27"/>
                </a:solidFill>
                <a:latin typeface="Apple SD Gothic Neo"/>
                <a:ea typeface="Apple SD Gothic Neo"/>
                <a:cs typeface="Apple SD Gothic Neo"/>
              </a:rPr>
              <a:t>검사</a:t>
            </a:r>
          </a:p>
        </p:txBody>
      </p:sp>
      <p:sp>
        <p:nvSpPr>
          <p:cNvPr id="8" name="Rounded Rectangle 7"/>
          <p:cNvSpPr/>
          <p:nvPr/>
        </p:nvSpPr>
        <p:spPr>
          <a:xfrm>
            <a:off x="9326880" y="2743200"/>
            <a:ext cx="2103120" cy="1188720"/>
          </a:xfrm>
          <a:prstGeom prst="roundRect">
            <a:avLst>
              <a:gd name="adj" fmla="val 12000"/>
            </a:avLst>
          </a:prstGeom>
          <a:solidFill>
            <a:srgbClr val="244E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2100" b="1">
                <a:solidFill>
                  <a:srgbClr val="FFFFFF"/>
                </a:solidFill>
                <a:latin typeface="Apple SD Gothic Neo"/>
                <a:ea typeface="Apple SD Gothic Neo"/>
                <a:cs typeface="Apple SD Gothic Neo"/>
              </a:rPr>
              <a:t>엔지니어</a:t>
            </a:r>
          </a:p>
        </p:txBody>
      </p:sp>
      <p:cxnSp>
        <p:nvCxnSpPr>
          <p:cNvPr id="9" name="Connector 8"/>
          <p:cNvCxnSpPr/>
          <p:nvPr/>
        </p:nvCxnSpPr>
        <p:spPr>
          <a:xfrm>
            <a:off x="2606040" y="3337560"/>
            <a:ext cx="548640" cy="0"/>
          </a:xfrm>
          <a:prstGeom prst="line">
            <a:avLst/>
          </a:prstGeom>
          <a:ln w="25400">
            <a:solidFill>
              <a:srgbClr val="6273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60520" y="4251960"/>
            <a:ext cx="0" cy="50292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892040" y="4251960"/>
            <a:ext cx="0" cy="50292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00400" y="4279392"/>
            <a:ext cx="914400" cy="457200"/>
          </a:xfrm>
          <a:prstGeom prst="rect">
            <a:avLst/>
          </a:prstGeom>
          <a:noFill/>
        </p:spPr>
        <p:txBody>
          <a:bodyPr wrap="square" lIns="18288" rIns="18288" tIns="18288" bIns="18288" anchor="t">
            <a:spAutoFit/>
          </a:bodyPr>
          <a:lstStyle/>
          <a:p>
            <a:pPr algn="r">
              <a:lnSpc>
                <a:spcPct val="115000"/>
              </a:lnSpc>
            </a:pPr>
            <a:r>
              <a:rPr sz="1400" b="0">
                <a:solidFill>
                  <a:srgbClr val="62736A"/>
                </a:solidFill>
                <a:latin typeface="Apple SD Gothic Neo"/>
                <a:ea typeface="Apple SD Gothic Neo"/>
                <a:cs typeface="Apple SD Gothic Neo"/>
              </a:rPr>
              <a:t>요청</a:t>
            </a:r>
          </a:p>
        </p:txBody>
      </p:sp>
      <p:sp>
        <p:nvSpPr>
          <p:cNvPr id="13" name="TextBox 12"/>
          <p:cNvSpPr txBox="1"/>
          <p:nvPr/>
        </p:nvSpPr>
        <p:spPr>
          <a:xfrm>
            <a:off x="4983480" y="4279392"/>
            <a:ext cx="914400" cy="457200"/>
          </a:xfrm>
          <a:prstGeom prst="rect">
            <a:avLst/>
          </a:prstGeom>
          <a:noFill/>
        </p:spPr>
        <p:txBody>
          <a:bodyPr wrap="square" lIns="18288" rIns="18288" tIns="18288" bIns="18288" anchor="t">
            <a:spAutoFit/>
          </a:bodyPr>
          <a:lstStyle/>
          <a:p>
            <a:pPr algn="l">
              <a:lnSpc>
                <a:spcPct val="115000"/>
              </a:lnSpc>
            </a:pPr>
            <a:r>
              <a:rPr sz="1400" b="0">
                <a:solidFill>
                  <a:srgbClr val="62736A"/>
                </a:solidFill>
                <a:latin typeface="Apple SD Gothic Neo"/>
                <a:ea typeface="Apple SD Gothic Neo"/>
                <a:cs typeface="Apple SD Gothic Neo"/>
              </a:rPr>
              <a:t>결과</a:t>
            </a:r>
          </a:p>
        </p:txBody>
      </p:sp>
      <p:cxnSp>
        <p:nvCxnSpPr>
          <p:cNvPr id="14" name="Connector 13"/>
          <p:cNvCxnSpPr/>
          <p:nvPr/>
        </p:nvCxnSpPr>
        <p:spPr>
          <a:xfrm>
            <a:off x="5897880" y="3337560"/>
            <a:ext cx="548640" cy="0"/>
          </a:xfrm>
          <a:prstGeom prst="line">
            <a:avLst/>
          </a:prstGeom>
          <a:ln w="25400">
            <a:solidFill>
              <a:srgbClr val="6273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32520" y="3337560"/>
            <a:ext cx="548640" cy="0"/>
          </a:xfrm>
          <a:prstGeom prst="line">
            <a:avLst/>
          </a:prstGeom>
          <a:ln w="25400">
            <a:solidFill>
              <a:srgbClr val="6273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92240" y="1737360"/>
            <a:ext cx="4937760" cy="731520"/>
          </a:xfrm>
          <a:prstGeom prst="rect">
            <a:avLst/>
          </a:prstGeom>
          <a:noFill/>
        </p:spPr>
        <p:txBody>
          <a:bodyPr wrap="square" lIns="18288" rIns="18288" tIns="18288" bIns="18288" anchor="t">
            <a:spAutoFit/>
          </a:bodyPr>
          <a:lstStyle/>
          <a:p>
            <a:pPr algn="r">
              <a:lnSpc>
                <a:spcPct val="115000"/>
              </a:lnSpc>
            </a:pPr>
            <a:r>
              <a:rPr sz="1800" b="0">
                <a:solidFill>
                  <a:srgbClr val="76B900"/>
                </a:solidFill>
                <a:latin typeface="Apple SD Gothic Neo"/>
                <a:ea typeface="Apple SD Gothic Neo"/>
                <a:cs typeface="Apple SD Gothic Neo"/>
              </a:rPr>
              <a:t>■ </a:t>
            </a:r>
            <a:r>
              <a:rPr sz="1800" b="0">
                <a:solidFill>
                  <a:srgbClr val="62736A"/>
                </a:solidFill>
                <a:latin typeface="Apple SD Gothic Neo"/>
                <a:ea typeface="Apple SD Gothic Neo"/>
                <a:cs typeface="Apple SD Gothic Neo"/>
              </a:rPr>
              <a:t>NVIDIA 기술</a:t>
            </a:r>
          </a:p>
        </p:txBody>
      </p:sp>
      <p:sp>
        <p:nvSpPr>
          <p:cNvPr id="17" name="TextBox 16"/>
          <p:cNvSpPr txBox="1"/>
          <p:nvPr/>
        </p:nvSpPr>
        <p:spPr>
          <a:xfrm>
            <a:off x="6492240" y="4846320"/>
            <a:ext cx="4937760" cy="1097280"/>
          </a:xfrm>
          <a:prstGeom prst="rect">
            <a:avLst/>
          </a:prstGeom>
          <a:noFill/>
        </p:spPr>
        <p:txBody>
          <a:bodyPr wrap="square" lIns="18288" rIns="18288" tIns="18288" bIns="18288" anchor="t">
            <a:spAutoFit/>
          </a:bodyPr>
          <a:lstStyle/>
          <a:p>
            <a:pPr algn="l">
              <a:lnSpc>
                <a:spcPct val="115000"/>
              </a:lnSpc>
            </a:pPr>
            <a:r>
              <a:rPr sz="1800" b="0">
                <a:solidFill>
                  <a:srgbClr val="62736A"/>
                </a:solidFill>
                <a:latin typeface="Apple SD Gothic Neo"/>
                <a:ea typeface="Apple SD Gothic Neo"/>
                <a:cs typeface="Apple SD Gothic Neo"/>
              </a:rPr>
              <a:t>모든 점검은 원본 기록에 연결돼야 통과</a:t>
            </a:r>
          </a:p>
          <a:p>
            <a:pPr algn="l">
              <a:lnSpc>
                <a:spcPct val="115000"/>
              </a:lnSpc>
            </a:pPr>
            <a:r>
              <a:rPr sz="1800" b="0">
                <a:solidFill>
                  <a:srgbClr val="62736A"/>
                </a:solidFill>
                <a:latin typeface="Apple SD Gothic Neo"/>
                <a:ea typeface="Apple SD Gothic Neo"/>
                <a:cs typeface="Apple SD Gothic Neo"/>
              </a:rPr>
              <a:t>도구는 읽기만 한다</a:t>
            </a:r>
          </a:p>
        </p:txBody>
      </p:sp>
      <p:sp>
        <p:nvSpPr>
          <p:cNvPr id="18" name="TextBox 17"/>
          <p:cNvSpPr txBox="1"/>
          <p:nvPr/>
        </p:nvSpPr>
        <p:spPr>
          <a:xfrm>
            <a:off x="11155680" y="6355080"/>
            <a:ext cx="731520" cy="274320"/>
          </a:xfrm>
          <a:prstGeom prst="rect">
            <a:avLst/>
          </a:prstGeom>
          <a:noFill/>
        </p:spPr>
        <p:txBody>
          <a:bodyPr wrap="square" lIns="18288" rIns="18288" tIns="18288" bIns="18288" anchor="t">
            <a:spAutoFit/>
          </a:bodyPr>
          <a:lstStyle/>
          <a:p>
            <a:pPr algn="r">
              <a:lnSpc>
                <a:spcPct val="115000"/>
              </a:lnSpc>
            </a:pPr>
            <a:r>
              <a:rPr sz="1200" b="0">
                <a:solidFill>
                  <a:srgbClr val="62736A"/>
                </a:solidFill>
                <a:latin typeface="Apple SD Gothic Neo"/>
                <a:ea typeface="Apple SD Gothic Neo"/>
                <a:cs typeface="Apple SD Gothic Ne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9F4"/>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lIns="18288" rIns="18288" tIns="18288" bIns="18288" anchor="t">
            <a:spAutoFit/>
          </a:bodyPr>
          <a:lstStyle/>
          <a:p>
            <a:pPr algn="l">
              <a:lnSpc>
                <a:spcPct val="115000"/>
              </a:lnSpc>
            </a:pPr>
            <a:r>
              <a:rPr sz="1600" b="1">
                <a:solidFill>
                  <a:srgbClr val="D06B3D"/>
                </a:solidFill>
                <a:latin typeface="Apple SD Gothic Neo"/>
                <a:ea typeface="Apple SD Gothic Neo"/>
                <a:cs typeface="Apple SD Gothic Neo"/>
              </a:rPr>
              <a:t>역할과 현재 상태</a:t>
            </a:r>
          </a:p>
        </p:txBody>
      </p:sp>
      <p:sp>
        <p:nvSpPr>
          <p:cNvPr id="3" name="TextBox 2"/>
          <p:cNvSpPr txBox="1"/>
          <p:nvPr/>
        </p:nvSpPr>
        <p:spPr>
          <a:xfrm>
            <a:off x="731520" y="777240"/>
            <a:ext cx="10789920" cy="822960"/>
          </a:xfrm>
          <a:prstGeom prst="rect">
            <a:avLst/>
          </a:prstGeom>
          <a:noFill/>
        </p:spPr>
        <p:txBody>
          <a:bodyPr wrap="square" lIns="18288" rIns="18288" tIns="18288" bIns="18288" anchor="t">
            <a:spAutoFit/>
          </a:bodyPr>
          <a:lstStyle/>
          <a:p>
            <a:pPr algn="l">
              <a:lnSpc>
                <a:spcPct val="115000"/>
              </a:lnSpc>
            </a:pPr>
            <a:r>
              <a:rPr sz="3600" b="1">
                <a:solidFill>
                  <a:srgbClr val="172B27"/>
                </a:solidFill>
                <a:latin typeface="Apple SD Gothic Neo"/>
                <a:ea typeface="Apple SD Gothic Neo"/>
                <a:cs typeface="Apple SD Gothic Neo"/>
              </a:rPr>
              <a:t>NVIDIA 기술이 맡은 일</a:t>
            </a:r>
          </a:p>
        </p:txBody>
      </p:sp>
      <p:sp>
        <p:nvSpPr>
          <p:cNvPr id="4" name="Rounded Rectangle 3"/>
          <p:cNvSpPr/>
          <p:nvPr/>
        </p:nvSpPr>
        <p:spPr>
          <a:xfrm>
            <a:off x="731520" y="1783080"/>
            <a:ext cx="3429000" cy="3520440"/>
          </a:xfrm>
          <a:prstGeom prst="roundRect">
            <a:avLst>
              <a:gd name="adj" fmla="val 12000"/>
            </a:avLst>
          </a:prstGeom>
          <a:solidFill>
            <a:srgbClr val="FFFFFF"/>
          </a:solidFill>
          <a:ln w="317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960120" y="2057400"/>
            <a:ext cx="2971800" cy="457200"/>
          </a:xfrm>
          <a:prstGeom prst="rect">
            <a:avLst/>
          </a:prstGeom>
          <a:noFill/>
        </p:spPr>
        <p:txBody>
          <a:bodyPr wrap="square" lIns="18288" rIns="18288" tIns="18288" bIns="18288" anchor="t">
            <a:spAutoFit/>
          </a:bodyPr>
          <a:lstStyle/>
          <a:p>
            <a:pPr algn="l">
              <a:lnSpc>
                <a:spcPct val="115000"/>
              </a:lnSpc>
            </a:pPr>
            <a:r>
              <a:rPr sz="1800" b="1">
                <a:solidFill>
                  <a:srgbClr val="62736A"/>
                </a:solidFill>
                <a:latin typeface="Apple SD Gothic Neo"/>
                <a:ea typeface="Apple SD Gothic Neo"/>
                <a:cs typeface="Apple SD Gothic Neo"/>
              </a:rPr>
              <a:t>두뇌 · NVIDIA NIM</a:t>
            </a:r>
          </a:p>
        </p:txBody>
      </p:sp>
      <p:sp>
        <p:nvSpPr>
          <p:cNvPr id="6" name="TextBox 5"/>
          <p:cNvSpPr txBox="1"/>
          <p:nvPr/>
        </p:nvSpPr>
        <p:spPr>
          <a:xfrm>
            <a:off x="960120" y="2423160"/>
            <a:ext cx="2971800" cy="548640"/>
          </a:xfrm>
          <a:prstGeom prst="rect">
            <a:avLst/>
          </a:prstGeom>
          <a:noFill/>
        </p:spPr>
        <p:txBody>
          <a:bodyPr wrap="square" lIns="18288" rIns="18288" tIns="18288" bIns="18288" anchor="t">
            <a:spAutoFit/>
          </a:bodyPr>
          <a:lstStyle/>
          <a:p>
            <a:pPr algn="l">
              <a:lnSpc>
                <a:spcPct val="115000"/>
              </a:lnSpc>
            </a:pPr>
            <a:r>
              <a:rPr sz="2400" b="1">
                <a:solidFill>
                  <a:srgbClr val="76B900"/>
                </a:solidFill>
                <a:latin typeface="Apple SD Gothic Neo"/>
                <a:ea typeface="Apple SD Gothic Neo"/>
                <a:cs typeface="Apple SD Gothic Neo"/>
              </a:rPr>
              <a:t>Nemotron 3 Ultra</a:t>
            </a:r>
          </a:p>
        </p:txBody>
      </p:sp>
      <p:sp>
        <p:nvSpPr>
          <p:cNvPr id="7" name="TextBox 6"/>
          <p:cNvSpPr txBox="1"/>
          <p:nvPr/>
        </p:nvSpPr>
        <p:spPr>
          <a:xfrm>
            <a:off x="960120" y="2926080"/>
            <a:ext cx="2971800" cy="365760"/>
          </a:xfrm>
          <a:prstGeom prst="rect">
            <a:avLst/>
          </a:prstGeom>
          <a:noFill/>
        </p:spPr>
        <p:txBody>
          <a:bodyPr wrap="square" lIns="18288" rIns="18288" tIns="18288" bIns="18288" anchor="t">
            <a:spAutoFit/>
          </a:bodyPr>
          <a:lstStyle/>
          <a:p>
            <a:pPr algn="l">
              <a:lnSpc>
                <a:spcPct val="115000"/>
              </a:lnSpc>
            </a:pPr>
            <a:r>
              <a:rPr sz="1300" b="0">
                <a:solidFill>
                  <a:srgbClr val="62736A"/>
                </a:solidFill>
                <a:latin typeface="Apple SD Gothic Neo"/>
                <a:ea typeface="Apple SD Gothic Neo"/>
                <a:cs typeface="Apple SD Gothic Neo"/>
              </a:rPr>
              <a:t>nvidia/nemotron-3-ultra-550b-a55b</a:t>
            </a:r>
          </a:p>
        </p:txBody>
      </p:sp>
      <p:sp>
        <p:nvSpPr>
          <p:cNvPr id="8" name="TextBox 7"/>
          <p:cNvSpPr txBox="1"/>
          <p:nvPr/>
        </p:nvSpPr>
        <p:spPr>
          <a:xfrm>
            <a:off x="960120" y="3429000"/>
            <a:ext cx="2971800" cy="1005840"/>
          </a:xfrm>
          <a:prstGeom prst="rect">
            <a:avLst/>
          </a:prstGeom>
          <a:noFill/>
        </p:spPr>
        <p:txBody>
          <a:bodyPr wrap="square" lIns="18288" rIns="18288" tIns="18288" bIns="18288" anchor="t">
            <a:spAutoFit/>
          </a:bodyPr>
          <a:lstStyle/>
          <a:p>
            <a:pPr algn="l">
              <a:lnSpc>
                <a:spcPct val="115000"/>
              </a:lnSpc>
            </a:pPr>
            <a:r>
              <a:rPr sz="1800" b="0">
                <a:solidFill>
                  <a:srgbClr val="172B27"/>
                </a:solidFill>
                <a:latin typeface="Apple SD Gothic Neo"/>
                <a:ea typeface="Apple SD Gothic Neo"/>
                <a:cs typeface="Apple SD Gothic Neo"/>
              </a:rPr>
              <a:t>읽을 자료를 스스로 고름</a:t>
            </a:r>
          </a:p>
          <a:p>
            <a:pPr algn="l">
              <a:lnSpc>
                <a:spcPct val="115000"/>
              </a:lnSpc>
            </a:pPr>
            <a:r>
              <a:rPr sz="1800" b="0">
                <a:solidFill>
                  <a:srgbClr val="172B27"/>
                </a:solidFill>
                <a:latin typeface="Apple SD Gothic Neo"/>
                <a:ea typeface="Apple SD Gothic Neo"/>
                <a:cs typeface="Apple SD Gothic Neo"/>
              </a:rPr>
              <a:t>결과 대조</a:t>
            </a:r>
          </a:p>
          <a:p>
            <a:pPr algn="l">
              <a:lnSpc>
                <a:spcPct val="115000"/>
              </a:lnSpc>
            </a:pPr>
            <a:r>
              <a:rPr sz="1800" b="0">
                <a:solidFill>
                  <a:srgbClr val="172B27"/>
                </a:solidFill>
                <a:latin typeface="Apple SD Gothic Neo"/>
                <a:ea typeface="Apple SD Gothic Neo"/>
                <a:cs typeface="Apple SD Gothic Neo"/>
              </a:rPr>
              <a:t>JSON 형식 점검안 생성</a:t>
            </a:r>
          </a:p>
        </p:txBody>
      </p:sp>
      <p:sp>
        <p:nvSpPr>
          <p:cNvPr id="9" name="Rounded Rectangle 8"/>
          <p:cNvSpPr/>
          <p:nvPr/>
        </p:nvSpPr>
        <p:spPr>
          <a:xfrm>
            <a:off x="960120" y="4572000"/>
            <a:ext cx="2971800" cy="502920"/>
          </a:xfrm>
          <a:prstGeom prst="roundRect">
            <a:avLst>
              <a:gd name="adj" fmla="val 12000"/>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500" b="1">
                <a:solidFill>
                  <a:srgbClr val="FFFFFF"/>
                </a:solidFill>
                <a:latin typeface="Apple SD Gothic Neo"/>
                <a:ea typeface="Apple SD Gothic Neo"/>
                <a:cs typeface="Apple SD Gothic Neo"/>
              </a:rPr>
              <a:t>데모 전체의 핵심 경로</a:t>
            </a:r>
          </a:p>
        </p:txBody>
      </p:sp>
      <p:sp>
        <p:nvSpPr>
          <p:cNvPr id="10" name="Rounded Rectangle 9"/>
          <p:cNvSpPr/>
          <p:nvPr/>
        </p:nvSpPr>
        <p:spPr>
          <a:xfrm>
            <a:off x="4370832" y="1783080"/>
            <a:ext cx="3429000" cy="3520440"/>
          </a:xfrm>
          <a:prstGeom prst="roundRect">
            <a:avLst>
              <a:gd name="adj" fmla="val 12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99432" y="2057400"/>
            <a:ext cx="2971800" cy="457200"/>
          </a:xfrm>
          <a:prstGeom prst="rect">
            <a:avLst/>
          </a:prstGeom>
          <a:noFill/>
        </p:spPr>
        <p:txBody>
          <a:bodyPr wrap="square" lIns="18288" rIns="18288" tIns="18288" bIns="18288" anchor="t">
            <a:spAutoFit/>
          </a:bodyPr>
          <a:lstStyle/>
          <a:p>
            <a:pPr algn="l">
              <a:lnSpc>
                <a:spcPct val="115000"/>
              </a:lnSpc>
            </a:pPr>
            <a:r>
              <a:rPr sz="1800" b="1">
                <a:solidFill>
                  <a:srgbClr val="62736A"/>
                </a:solidFill>
                <a:latin typeface="Apple SD Gothic Neo"/>
                <a:ea typeface="Apple SD Gothic Neo"/>
                <a:cs typeface="Apple SD Gothic Neo"/>
              </a:rPr>
              <a:t>도구 실행</a:t>
            </a:r>
          </a:p>
        </p:txBody>
      </p:sp>
      <p:sp>
        <p:nvSpPr>
          <p:cNvPr id="12" name="TextBox 11"/>
          <p:cNvSpPr txBox="1"/>
          <p:nvPr/>
        </p:nvSpPr>
        <p:spPr>
          <a:xfrm>
            <a:off x="4599432" y="2423160"/>
            <a:ext cx="2971800" cy="548640"/>
          </a:xfrm>
          <a:prstGeom prst="rect">
            <a:avLst/>
          </a:prstGeom>
          <a:noFill/>
        </p:spPr>
        <p:txBody>
          <a:bodyPr wrap="square" lIns="18288" rIns="18288" tIns="18288" bIns="18288" anchor="t">
            <a:spAutoFit/>
          </a:bodyPr>
          <a:lstStyle/>
          <a:p>
            <a:pPr algn="l">
              <a:lnSpc>
                <a:spcPct val="115000"/>
              </a:lnSpc>
            </a:pPr>
            <a:r>
              <a:rPr sz="2400" b="1">
                <a:solidFill>
                  <a:srgbClr val="76B900"/>
                </a:solidFill>
                <a:latin typeface="Apple SD Gothic Neo"/>
                <a:ea typeface="Apple SD Gothic Neo"/>
                <a:cs typeface="Apple SD Gothic Neo"/>
              </a:rPr>
              <a:t>NeMo Agent Toolkit</a:t>
            </a:r>
          </a:p>
        </p:txBody>
      </p:sp>
      <p:sp>
        <p:nvSpPr>
          <p:cNvPr id="13" name="TextBox 12"/>
          <p:cNvSpPr txBox="1"/>
          <p:nvPr/>
        </p:nvSpPr>
        <p:spPr>
          <a:xfrm>
            <a:off x="4599432" y="2926080"/>
            <a:ext cx="2971800" cy="365760"/>
          </a:xfrm>
          <a:prstGeom prst="rect">
            <a:avLst/>
          </a:prstGeom>
          <a:noFill/>
        </p:spPr>
        <p:txBody>
          <a:bodyPr wrap="square" lIns="18288" rIns="18288" tIns="18288" bIns="18288" anchor="t">
            <a:spAutoFit/>
          </a:bodyPr>
          <a:lstStyle/>
          <a:p>
            <a:pPr algn="l">
              <a:lnSpc>
                <a:spcPct val="115000"/>
              </a:lnSpc>
            </a:pPr>
            <a:r>
              <a:rPr sz="1300" b="0">
                <a:solidFill>
                  <a:srgbClr val="62736A"/>
                </a:solidFill>
                <a:latin typeface="Apple SD Gothic Neo"/>
                <a:ea typeface="Apple SD Gothic Neo"/>
                <a:cs typeface="Apple SD Gothic Neo"/>
              </a:rPr>
              <a:t>버전 1.8.0</a:t>
            </a:r>
          </a:p>
        </p:txBody>
      </p:sp>
      <p:sp>
        <p:nvSpPr>
          <p:cNvPr id="14" name="TextBox 13"/>
          <p:cNvSpPr txBox="1"/>
          <p:nvPr/>
        </p:nvSpPr>
        <p:spPr>
          <a:xfrm>
            <a:off x="4599432" y="3429000"/>
            <a:ext cx="2971800" cy="1005840"/>
          </a:xfrm>
          <a:prstGeom prst="rect">
            <a:avLst/>
          </a:prstGeom>
          <a:noFill/>
        </p:spPr>
        <p:txBody>
          <a:bodyPr wrap="square" lIns="18288" rIns="18288" tIns="18288" bIns="18288" anchor="t">
            <a:spAutoFit/>
          </a:bodyPr>
          <a:lstStyle/>
          <a:p>
            <a:pPr algn="l">
              <a:lnSpc>
                <a:spcPct val="115000"/>
              </a:lnSpc>
            </a:pPr>
            <a:r>
              <a:rPr sz="1800" b="0">
                <a:solidFill>
                  <a:srgbClr val="172B27"/>
                </a:solidFill>
                <a:latin typeface="Apple SD Gothic Neo"/>
                <a:ea typeface="Apple SD Gothic Neo"/>
                <a:cs typeface="Apple SD Gothic Neo"/>
              </a:rPr>
              <a:t>읽기 도구 6종 등록·실행</a:t>
            </a:r>
          </a:p>
          <a:p>
            <a:pPr algn="l">
              <a:lnSpc>
                <a:spcPct val="115000"/>
              </a:lnSpc>
            </a:pPr>
            <a:r>
              <a:rPr sz="1800" b="0">
                <a:solidFill>
                  <a:srgbClr val="172B27"/>
                </a:solidFill>
                <a:latin typeface="Apple SD Gothic Neo"/>
                <a:ea typeface="Apple SD Gothic Neo"/>
                <a:cs typeface="Apple SD Gothic Neo"/>
              </a:rPr>
              <a:t>직접 호출과 결과 동일</a:t>
            </a:r>
          </a:p>
          <a:p>
            <a:pPr algn="l">
              <a:lnSpc>
                <a:spcPct val="115000"/>
              </a:lnSpc>
            </a:pPr>
            <a:r>
              <a:rPr sz="1800" b="0">
                <a:solidFill>
                  <a:srgbClr val="172B27"/>
                </a:solidFill>
                <a:latin typeface="Apple SD Gothic Neo"/>
                <a:ea typeface="Apple SD Gothic Neo"/>
                <a:cs typeface="Apple SD Gothic Neo"/>
              </a:rPr>
              <a:t>사례 52: 조회 6회 실행</a:t>
            </a:r>
          </a:p>
        </p:txBody>
      </p:sp>
      <p:sp>
        <p:nvSpPr>
          <p:cNvPr id="15" name="Rounded Rectangle 14"/>
          <p:cNvSpPr/>
          <p:nvPr/>
        </p:nvSpPr>
        <p:spPr>
          <a:xfrm>
            <a:off x="4599432" y="4572000"/>
            <a:ext cx="2971800" cy="502920"/>
          </a:xfrm>
          <a:prstGeom prst="roundRect">
            <a:avLst>
              <a:gd name="adj" fmla="val 12000"/>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500" b="0">
                <a:solidFill>
                  <a:srgbClr val="172B27"/>
                </a:solidFill>
                <a:latin typeface="Apple SD Gothic Neo"/>
                <a:ea typeface="Apple SD Gothic Neo"/>
                <a:cs typeface="Apple SD Gothic Neo"/>
              </a:rPr>
              <a:t>일부 적용 · 루프는 자체 코드</a:t>
            </a:r>
          </a:p>
        </p:txBody>
      </p:sp>
      <p:sp>
        <p:nvSpPr>
          <p:cNvPr id="16" name="Rounded Rectangle 15"/>
          <p:cNvSpPr/>
          <p:nvPr/>
        </p:nvSpPr>
        <p:spPr>
          <a:xfrm>
            <a:off x="8010144" y="1783080"/>
            <a:ext cx="3429000" cy="3520440"/>
          </a:xfrm>
          <a:prstGeom prst="roundRect">
            <a:avLst>
              <a:gd name="adj" fmla="val 12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38744" y="2057400"/>
            <a:ext cx="2971800" cy="457200"/>
          </a:xfrm>
          <a:prstGeom prst="rect">
            <a:avLst/>
          </a:prstGeom>
          <a:noFill/>
        </p:spPr>
        <p:txBody>
          <a:bodyPr wrap="square" lIns="18288" rIns="18288" tIns="18288" bIns="18288" anchor="t">
            <a:spAutoFit/>
          </a:bodyPr>
          <a:lstStyle/>
          <a:p>
            <a:pPr algn="l">
              <a:lnSpc>
                <a:spcPct val="115000"/>
              </a:lnSpc>
            </a:pPr>
            <a:r>
              <a:rPr sz="1800" b="1">
                <a:solidFill>
                  <a:srgbClr val="62736A"/>
                </a:solidFill>
                <a:latin typeface="Apple SD Gothic Neo"/>
                <a:ea typeface="Apple SD Gothic Neo"/>
                <a:cs typeface="Apple SD Gothic Neo"/>
              </a:rPr>
              <a:t>안전장치</a:t>
            </a:r>
          </a:p>
        </p:txBody>
      </p:sp>
      <p:sp>
        <p:nvSpPr>
          <p:cNvPr id="18" name="TextBox 17"/>
          <p:cNvSpPr txBox="1"/>
          <p:nvPr/>
        </p:nvSpPr>
        <p:spPr>
          <a:xfrm>
            <a:off x="8238744" y="2423160"/>
            <a:ext cx="2971800" cy="548640"/>
          </a:xfrm>
          <a:prstGeom prst="rect">
            <a:avLst/>
          </a:prstGeom>
          <a:noFill/>
        </p:spPr>
        <p:txBody>
          <a:bodyPr wrap="square" lIns="18288" rIns="18288" tIns="18288" bIns="18288" anchor="t">
            <a:spAutoFit/>
          </a:bodyPr>
          <a:lstStyle/>
          <a:p>
            <a:pPr algn="l">
              <a:lnSpc>
                <a:spcPct val="115000"/>
              </a:lnSpc>
            </a:pPr>
            <a:r>
              <a:rPr sz="2400" b="1">
                <a:solidFill>
                  <a:srgbClr val="76B900"/>
                </a:solidFill>
                <a:latin typeface="Apple SD Gothic Neo"/>
                <a:ea typeface="Apple SD Gothic Neo"/>
                <a:cs typeface="Apple SD Gothic Neo"/>
              </a:rPr>
              <a:t>OpenShell</a:t>
            </a:r>
          </a:p>
        </p:txBody>
      </p:sp>
      <p:sp>
        <p:nvSpPr>
          <p:cNvPr id="19" name="TextBox 18"/>
          <p:cNvSpPr txBox="1"/>
          <p:nvPr/>
        </p:nvSpPr>
        <p:spPr>
          <a:xfrm>
            <a:off x="8238744" y="2926080"/>
            <a:ext cx="2971800" cy="365760"/>
          </a:xfrm>
          <a:prstGeom prst="rect">
            <a:avLst/>
          </a:prstGeom>
          <a:noFill/>
        </p:spPr>
        <p:txBody>
          <a:bodyPr wrap="square" lIns="18288" rIns="18288" tIns="18288" bIns="18288" anchor="t">
            <a:spAutoFit/>
          </a:bodyPr>
          <a:lstStyle/>
          <a:p>
            <a:pPr algn="l">
              <a:lnSpc>
                <a:spcPct val="115000"/>
              </a:lnSpc>
            </a:pPr>
            <a:r>
              <a:rPr sz="1300" b="0">
                <a:solidFill>
                  <a:srgbClr val="62736A"/>
                </a:solidFill>
                <a:latin typeface="Apple SD Gothic Neo"/>
                <a:ea typeface="Apple SD Gothic Neo"/>
                <a:cs typeface="Apple SD Gothic Neo"/>
              </a:rPr>
              <a:t>버전 0.1.2</a:t>
            </a:r>
          </a:p>
        </p:txBody>
      </p:sp>
      <p:sp>
        <p:nvSpPr>
          <p:cNvPr id="20" name="TextBox 19"/>
          <p:cNvSpPr txBox="1"/>
          <p:nvPr/>
        </p:nvSpPr>
        <p:spPr>
          <a:xfrm>
            <a:off x="8238744" y="3429000"/>
            <a:ext cx="2971800" cy="1005840"/>
          </a:xfrm>
          <a:prstGeom prst="rect">
            <a:avLst/>
          </a:prstGeom>
          <a:noFill/>
        </p:spPr>
        <p:txBody>
          <a:bodyPr wrap="square" lIns="18288" rIns="18288" tIns="18288" bIns="18288" anchor="t">
            <a:spAutoFit/>
          </a:bodyPr>
          <a:lstStyle/>
          <a:p>
            <a:pPr algn="l">
              <a:lnSpc>
                <a:spcPct val="115000"/>
              </a:lnSpc>
            </a:pPr>
            <a:r>
              <a:rPr sz="1800" b="0">
                <a:solidFill>
                  <a:srgbClr val="172B27"/>
                </a:solidFill>
                <a:latin typeface="Apple SD Gothic Neo"/>
                <a:ea typeface="Apple SD Gothic Neo"/>
                <a:cs typeface="Apple SD Gothic Neo"/>
              </a:rPr>
              <a:t>허용 파일 읽기만 통과</a:t>
            </a:r>
          </a:p>
          <a:p>
            <a:pPr algn="l">
              <a:lnSpc>
                <a:spcPct val="115000"/>
              </a:lnSpc>
            </a:pPr>
            <a:r>
              <a:rPr sz="1800" b="0">
                <a:solidFill>
                  <a:srgbClr val="172B27"/>
                </a:solidFill>
                <a:latin typeface="Apple SD Gothic Neo"/>
                <a:ea typeface="Apple SD Gothic Neo"/>
                <a:cs typeface="Apple SD Gothic Neo"/>
              </a:rPr>
              <a:t>다른 읽기·쓰기 차단</a:t>
            </a:r>
          </a:p>
          <a:p>
            <a:pPr algn="l">
              <a:lnSpc>
                <a:spcPct val="115000"/>
              </a:lnSpc>
            </a:pPr>
            <a:r>
              <a:rPr sz="1800" b="0">
                <a:solidFill>
                  <a:srgbClr val="172B27"/>
                </a:solidFill>
                <a:latin typeface="Apple SD Gothic Neo"/>
                <a:ea typeface="Apple SD Gothic Neo"/>
                <a:cs typeface="Apple SD Gothic Neo"/>
              </a:rPr>
              <a:t>외부 통신 차단</a:t>
            </a:r>
          </a:p>
        </p:txBody>
      </p:sp>
      <p:sp>
        <p:nvSpPr>
          <p:cNvPr id="21" name="Rounded Rectangle 20"/>
          <p:cNvSpPr/>
          <p:nvPr/>
        </p:nvSpPr>
        <p:spPr>
          <a:xfrm>
            <a:off x="8238744" y="4572000"/>
            <a:ext cx="2971800" cy="502920"/>
          </a:xfrm>
          <a:prstGeom prst="roundRect">
            <a:avLst>
              <a:gd name="adj" fmla="val 12000"/>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5000"/>
              </a:lnSpc>
            </a:pPr>
            <a:r>
              <a:rPr sz="1500" b="0">
                <a:solidFill>
                  <a:srgbClr val="172B27"/>
                </a:solidFill>
                <a:latin typeface="Apple SD Gothic Neo"/>
                <a:ea typeface="Apple SD Gothic Neo"/>
                <a:cs typeface="Apple SD Gothic Neo"/>
              </a:rPr>
              <a:t>시험 데이터로 확인 · 전체 적용 전</a:t>
            </a:r>
          </a:p>
        </p:txBody>
      </p:sp>
      <p:sp>
        <p:nvSpPr>
          <p:cNvPr id="22" name="Rounded Rectangle 21"/>
          <p:cNvSpPr/>
          <p:nvPr/>
        </p:nvSpPr>
        <p:spPr>
          <a:xfrm>
            <a:off x="731520" y="5532120"/>
            <a:ext cx="10698480" cy="685800"/>
          </a:xfrm>
          <a:prstGeom prst="roundRect">
            <a:avLst>
              <a:gd name="adj" fmla="val 12000"/>
            </a:avLst>
          </a:prstGeom>
          <a:solidFill>
            <a:srgbClr val="F1E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05840" y="5532120"/>
            <a:ext cx="10241280" cy="685800"/>
          </a:xfrm>
          <a:prstGeom prst="rect">
            <a:avLst/>
          </a:prstGeom>
          <a:noFill/>
        </p:spPr>
        <p:txBody>
          <a:bodyPr wrap="square" lIns="18288" rIns="18288" tIns="18288" bIns="18288" anchor="ctr">
            <a:spAutoFit/>
          </a:bodyPr>
          <a:lstStyle/>
          <a:p>
            <a:pPr algn="l">
              <a:lnSpc>
                <a:spcPct val="115000"/>
              </a:lnSpc>
            </a:pPr>
            <a:r>
              <a:rPr sz="1900" b="1">
                <a:solidFill>
                  <a:srgbClr val="D06B3D"/>
                </a:solidFill>
                <a:latin typeface="Apple SD Gothic Neo"/>
                <a:ea typeface="Apple SD Gothic Neo"/>
                <a:cs typeface="Apple SD Gothic Neo"/>
              </a:rPr>
              <a:t>다음  </a:t>
            </a:r>
            <a:r>
              <a:rPr sz="1900" b="1">
                <a:solidFill>
                  <a:srgbClr val="76B900"/>
                </a:solidFill>
                <a:latin typeface="Apple SD Gothic Neo"/>
                <a:ea typeface="Apple SD Gothic Neo"/>
                <a:cs typeface="Apple SD Gothic Neo"/>
              </a:rPr>
              <a:t>Nemotron Nano</a:t>
            </a:r>
            <a:r>
              <a:rPr sz="1900" b="0">
                <a:solidFill>
                  <a:srgbClr val="172B27"/>
                </a:solidFill>
                <a:latin typeface="Apple SD Gothic Neo"/>
                <a:ea typeface="Apple SD Gothic Neo"/>
                <a:cs typeface="Apple SD Gothic Neo"/>
              </a:rPr>
              <a:t> 상시 감시 (수만 개 신호)   ·   </a:t>
            </a:r>
            <a:r>
              <a:rPr sz="1900" b="1">
                <a:solidFill>
                  <a:srgbClr val="76B900"/>
                </a:solidFill>
                <a:latin typeface="Apple SD Gothic Neo"/>
                <a:ea typeface="Apple SD Gothic Neo"/>
                <a:cs typeface="Apple SD Gothic Neo"/>
              </a:rPr>
              <a:t>NeMo Retriever</a:t>
            </a:r>
            <a:r>
              <a:rPr sz="1900" b="0">
                <a:solidFill>
                  <a:srgbClr val="172B27"/>
                </a:solidFill>
                <a:latin typeface="Apple SD Gothic Neo"/>
                <a:ea typeface="Apple SD Gothic Neo"/>
                <a:cs typeface="Apple SD Gothic Neo"/>
              </a:rPr>
              <a:t> 문서·도면 검색</a:t>
            </a:r>
          </a:p>
        </p:txBody>
      </p:sp>
      <p:sp>
        <p:nvSpPr>
          <p:cNvPr id="24" name="TextBox 23"/>
          <p:cNvSpPr txBox="1"/>
          <p:nvPr/>
        </p:nvSpPr>
        <p:spPr>
          <a:xfrm>
            <a:off x="11155680" y="6355080"/>
            <a:ext cx="731520" cy="274320"/>
          </a:xfrm>
          <a:prstGeom prst="rect">
            <a:avLst/>
          </a:prstGeom>
          <a:noFill/>
        </p:spPr>
        <p:txBody>
          <a:bodyPr wrap="square" lIns="18288" rIns="18288" tIns="18288" bIns="18288" anchor="t">
            <a:spAutoFit/>
          </a:bodyPr>
          <a:lstStyle/>
          <a:p>
            <a:pPr algn="r">
              <a:lnSpc>
                <a:spcPct val="115000"/>
              </a:lnSpc>
            </a:pPr>
            <a:r>
              <a:rPr sz="1200" b="0">
                <a:solidFill>
                  <a:srgbClr val="62736A"/>
                </a:solidFill>
                <a:latin typeface="Apple SD Gothic Neo"/>
                <a:ea typeface="Apple SD Gothic Neo"/>
                <a:cs typeface="Apple SD Gothic Ne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9F4"/>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lIns="18288" rIns="18288" tIns="18288" bIns="18288" anchor="t">
            <a:spAutoFit/>
          </a:bodyPr>
          <a:lstStyle/>
          <a:p>
            <a:pPr algn="l">
              <a:lnSpc>
                <a:spcPct val="115000"/>
              </a:lnSpc>
            </a:pPr>
            <a:r>
              <a:rPr sz="1600" b="1">
                <a:solidFill>
                  <a:srgbClr val="D06B3D"/>
                </a:solidFill>
                <a:latin typeface="Apple SD Gothic Neo"/>
                <a:ea typeface="Apple SD Gothic Neo"/>
                <a:cs typeface="Apple SD Gothic Neo"/>
              </a:rPr>
              <a:t>같은 자료 · 같은 출력 형식 · 신고 4건</a:t>
            </a:r>
          </a:p>
        </p:txBody>
      </p:sp>
      <p:sp>
        <p:nvSpPr>
          <p:cNvPr id="3" name="TextBox 2"/>
          <p:cNvSpPr txBox="1"/>
          <p:nvPr/>
        </p:nvSpPr>
        <p:spPr>
          <a:xfrm>
            <a:off x="731520" y="777240"/>
            <a:ext cx="10789920" cy="822960"/>
          </a:xfrm>
          <a:prstGeom prst="rect">
            <a:avLst/>
          </a:prstGeom>
          <a:noFill/>
        </p:spPr>
        <p:txBody>
          <a:bodyPr wrap="square" lIns="18288" rIns="18288" tIns="18288" bIns="18288" anchor="t">
            <a:spAutoFit/>
          </a:bodyPr>
          <a:lstStyle/>
          <a:p>
            <a:pPr algn="l">
              <a:lnSpc>
                <a:spcPct val="115000"/>
              </a:lnSpc>
            </a:pPr>
            <a:r>
              <a:rPr sz="3600" b="1">
                <a:solidFill>
                  <a:srgbClr val="172B27"/>
                </a:solidFill>
                <a:latin typeface="Apple SD Gothic Neo"/>
                <a:ea typeface="Apple SD Gothic Neo"/>
                <a:cs typeface="Apple SD Gothic Neo"/>
              </a:rPr>
              <a:t>솔직한 결과</a:t>
            </a:r>
          </a:p>
        </p:txBody>
      </p:sp>
      <p:sp>
        <p:nvSpPr>
          <p:cNvPr id="4" name="TextBox 3"/>
          <p:cNvSpPr txBox="1"/>
          <p:nvPr/>
        </p:nvSpPr>
        <p:spPr>
          <a:xfrm>
            <a:off x="731520" y="1783080"/>
            <a:ext cx="5486400" cy="365760"/>
          </a:xfrm>
          <a:prstGeom prst="rect">
            <a:avLst/>
          </a:prstGeom>
          <a:noFill/>
        </p:spPr>
        <p:txBody>
          <a:bodyPr wrap="square" lIns="18288" rIns="18288" tIns="18288" bIns="18288" anchor="t">
            <a:spAutoFit/>
          </a:bodyPr>
          <a:lstStyle/>
          <a:p>
            <a:pPr algn="l">
              <a:lnSpc>
                <a:spcPct val="115000"/>
              </a:lnSpc>
            </a:pPr>
            <a:r>
              <a:rPr sz="2000" b="0">
                <a:solidFill>
                  <a:srgbClr val="62736A"/>
                </a:solidFill>
                <a:latin typeface="Apple SD Gothic Neo"/>
                <a:ea typeface="Apple SD Gothic Neo"/>
                <a:cs typeface="Apple SD Gothic Neo"/>
              </a:rPr>
              <a:t>근거 연결 검사 통과</a:t>
            </a:r>
          </a:p>
        </p:txBody>
      </p:sp>
      <p:sp>
        <p:nvSpPr>
          <p:cNvPr id="5" name="TextBox 4"/>
          <p:cNvSpPr txBox="1"/>
          <p:nvPr/>
        </p:nvSpPr>
        <p:spPr>
          <a:xfrm>
            <a:off x="731520" y="2194560"/>
            <a:ext cx="2743200" cy="1005840"/>
          </a:xfrm>
          <a:prstGeom prst="rect">
            <a:avLst/>
          </a:prstGeom>
          <a:noFill/>
        </p:spPr>
        <p:txBody>
          <a:bodyPr wrap="square" lIns="18288" rIns="18288" tIns="18288" bIns="18288" anchor="t">
            <a:spAutoFit/>
          </a:bodyPr>
          <a:lstStyle/>
          <a:p>
            <a:pPr algn="l">
              <a:lnSpc>
                <a:spcPct val="115000"/>
              </a:lnSpc>
            </a:pPr>
            <a:r>
              <a:rPr sz="6600" b="1">
                <a:solidFill>
                  <a:srgbClr val="76B900"/>
                </a:solidFill>
                <a:latin typeface="Apple SD Gothic Neo"/>
                <a:ea typeface="Apple SD Gothic Neo"/>
                <a:cs typeface="Apple SD Gothic Neo"/>
              </a:rPr>
              <a:t>2/4</a:t>
            </a:r>
          </a:p>
        </p:txBody>
      </p:sp>
      <p:sp>
        <p:nvSpPr>
          <p:cNvPr id="6" name="TextBox 5"/>
          <p:cNvSpPr txBox="1"/>
          <p:nvPr/>
        </p:nvSpPr>
        <p:spPr>
          <a:xfrm>
            <a:off x="731520" y="3200400"/>
            <a:ext cx="2743200" cy="365760"/>
          </a:xfrm>
          <a:prstGeom prst="rect">
            <a:avLst/>
          </a:prstGeom>
          <a:noFill/>
        </p:spPr>
        <p:txBody>
          <a:bodyPr wrap="square" lIns="18288" rIns="18288" tIns="18288" bIns="18288" anchor="t">
            <a:spAutoFit/>
          </a:bodyPr>
          <a:lstStyle/>
          <a:p>
            <a:pPr algn="l">
              <a:lnSpc>
                <a:spcPct val="115000"/>
              </a:lnSpc>
            </a:pPr>
            <a:r>
              <a:rPr sz="1800" b="1">
                <a:solidFill>
                  <a:srgbClr val="76B900"/>
                </a:solidFill>
                <a:latin typeface="Apple SD Gothic Neo"/>
                <a:ea typeface="Apple SD Gothic Neo"/>
                <a:cs typeface="Apple SD Gothic Neo"/>
              </a:rPr>
              <a:t>Nemotron 3 Ultra</a:t>
            </a:r>
          </a:p>
        </p:txBody>
      </p:sp>
      <p:sp>
        <p:nvSpPr>
          <p:cNvPr id="7" name="TextBox 6"/>
          <p:cNvSpPr txBox="1"/>
          <p:nvPr/>
        </p:nvSpPr>
        <p:spPr>
          <a:xfrm>
            <a:off x="3291840" y="2194560"/>
            <a:ext cx="2743200" cy="1005840"/>
          </a:xfrm>
          <a:prstGeom prst="rect">
            <a:avLst/>
          </a:prstGeom>
          <a:noFill/>
        </p:spPr>
        <p:txBody>
          <a:bodyPr wrap="square" lIns="18288" rIns="18288" tIns="18288" bIns="18288" anchor="t">
            <a:spAutoFit/>
          </a:bodyPr>
          <a:lstStyle/>
          <a:p>
            <a:pPr algn="l">
              <a:lnSpc>
                <a:spcPct val="115000"/>
              </a:lnSpc>
            </a:pPr>
            <a:r>
              <a:rPr sz="6600" b="1">
                <a:solidFill>
                  <a:srgbClr val="62736A"/>
                </a:solidFill>
                <a:latin typeface="Apple SD Gothic Neo"/>
                <a:ea typeface="Apple SD Gothic Neo"/>
                <a:cs typeface="Apple SD Gothic Neo"/>
              </a:rPr>
              <a:t>4/4</a:t>
            </a:r>
          </a:p>
        </p:txBody>
      </p:sp>
      <p:sp>
        <p:nvSpPr>
          <p:cNvPr id="8" name="TextBox 7"/>
          <p:cNvSpPr txBox="1"/>
          <p:nvPr/>
        </p:nvSpPr>
        <p:spPr>
          <a:xfrm>
            <a:off x="3291840" y="3200400"/>
            <a:ext cx="2743200" cy="365760"/>
          </a:xfrm>
          <a:prstGeom prst="rect">
            <a:avLst/>
          </a:prstGeom>
          <a:noFill/>
        </p:spPr>
        <p:txBody>
          <a:bodyPr wrap="square" lIns="18288" rIns="18288" tIns="18288" bIns="18288" anchor="t">
            <a:spAutoFit/>
          </a:bodyPr>
          <a:lstStyle/>
          <a:p>
            <a:pPr algn="l">
              <a:lnSpc>
                <a:spcPct val="115000"/>
              </a:lnSpc>
            </a:pPr>
            <a:r>
              <a:rPr sz="1800" b="1">
                <a:solidFill>
                  <a:srgbClr val="62736A"/>
                </a:solidFill>
                <a:latin typeface="Apple SD Gothic Neo"/>
                <a:ea typeface="Apple SD Gothic Neo"/>
                <a:cs typeface="Apple SD Gothic Neo"/>
              </a:rPr>
              <a:t>Claude Sonnet 5 (참고)</a:t>
            </a:r>
          </a:p>
        </p:txBody>
      </p:sp>
      <p:sp>
        <p:nvSpPr>
          <p:cNvPr id="9" name="TextBox 8"/>
          <p:cNvSpPr txBox="1"/>
          <p:nvPr/>
        </p:nvSpPr>
        <p:spPr>
          <a:xfrm>
            <a:off x="731520" y="4023360"/>
            <a:ext cx="5486400" cy="365760"/>
          </a:xfrm>
          <a:prstGeom prst="rect">
            <a:avLst/>
          </a:prstGeom>
          <a:noFill/>
        </p:spPr>
        <p:txBody>
          <a:bodyPr wrap="square" lIns="18288" rIns="18288" tIns="18288" bIns="18288" anchor="t">
            <a:spAutoFit/>
          </a:bodyPr>
          <a:lstStyle/>
          <a:p>
            <a:pPr algn="l">
              <a:lnSpc>
                <a:spcPct val="115000"/>
              </a:lnSpc>
            </a:pPr>
            <a:r>
              <a:rPr sz="2000" b="0">
                <a:solidFill>
                  <a:srgbClr val="62736A"/>
                </a:solidFill>
                <a:latin typeface="Apple SD Gothic Neo"/>
                <a:ea typeface="Apple SD Gothic Neo"/>
                <a:cs typeface="Apple SD Gothic Neo"/>
              </a:rPr>
              <a:t>둘 다 끝낸 2건 · 내용 검토</a:t>
            </a:r>
          </a:p>
        </p:txBody>
      </p:sp>
      <p:sp>
        <p:nvSpPr>
          <p:cNvPr id="10" name="TextBox 9"/>
          <p:cNvSpPr txBox="1"/>
          <p:nvPr/>
        </p:nvSpPr>
        <p:spPr>
          <a:xfrm>
            <a:off x="731520" y="4434840"/>
            <a:ext cx="5486400" cy="731520"/>
          </a:xfrm>
          <a:prstGeom prst="rect">
            <a:avLst/>
          </a:prstGeom>
          <a:noFill/>
        </p:spPr>
        <p:txBody>
          <a:bodyPr wrap="square" lIns="18288" rIns="18288" tIns="18288" bIns="18288" anchor="t">
            <a:spAutoFit/>
          </a:bodyPr>
          <a:lstStyle/>
          <a:p>
            <a:pPr algn="l">
              <a:lnSpc>
                <a:spcPct val="115000"/>
              </a:lnSpc>
            </a:pPr>
            <a:r>
              <a:rPr sz="4400" b="1">
                <a:solidFill>
                  <a:srgbClr val="76B900"/>
                </a:solidFill>
                <a:latin typeface="Apple SD Gothic Neo"/>
                <a:ea typeface="Apple SD Gothic Neo"/>
                <a:cs typeface="Apple SD Gothic Neo"/>
              </a:rPr>
              <a:t>41</a:t>
            </a:r>
            <a:r>
              <a:rPr sz="4400" b="0">
                <a:solidFill>
                  <a:srgbClr val="62736A"/>
                </a:solidFill>
                <a:latin typeface="Apple SD Gothic Neo"/>
                <a:ea typeface="Apple SD Gothic Neo"/>
                <a:cs typeface="Apple SD Gothic Neo"/>
              </a:rPr>
              <a:t> : </a:t>
            </a:r>
            <a:r>
              <a:rPr sz="4400" b="1">
                <a:solidFill>
                  <a:srgbClr val="62736A"/>
                </a:solidFill>
                <a:latin typeface="Apple SD Gothic Neo"/>
                <a:ea typeface="Apple SD Gothic Neo"/>
                <a:cs typeface="Apple SD Gothic Neo"/>
              </a:rPr>
              <a:t>42</a:t>
            </a:r>
            <a:r>
              <a:rPr sz="2200" b="0">
                <a:solidFill>
                  <a:srgbClr val="62736A"/>
                </a:solidFill>
                <a:latin typeface="Apple SD Gothic Neo"/>
                <a:ea typeface="Apple SD Gothic Neo"/>
                <a:cs typeface="Apple SD Gothic Neo"/>
              </a:rPr>
              <a:t>  / 48</a:t>
            </a:r>
          </a:p>
        </p:txBody>
      </p:sp>
      <p:sp>
        <p:nvSpPr>
          <p:cNvPr id="11" name="Rounded Rectangle 10"/>
          <p:cNvSpPr/>
          <p:nvPr/>
        </p:nvSpPr>
        <p:spPr>
          <a:xfrm>
            <a:off x="6583680" y="1783080"/>
            <a:ext cx="4846320" cy="342900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0" y="1965960"/>
            <a:ext cx="4389120" cy="3108960"/>
          </a:xfrm>
          <a:prstGeom prst="rect">
            <a:avLst/>
          </a:prstGeom>
          <a:noFill/>
        </p:spPr>
        <p:txBody>
          <a:bodyPr wrap="square" lIns="18288" rIns="18288" tIns="18288" bIns="18288" anchor="t">
            <a:spAutoFit/>
          </a:bodyPr>
          <a:lstStyle/>
          <a:p>
            <a:pPr algn="l">
              <a:lnSpc>
                <a:spcPct val="120000"/>
              </a:lnSpc>
            </a:pPr>
            <a:r>
              <a:rPr sz="1800" b="1">
                <a:solidFill>
                  <a:srgbClr val="D06B3D"/>
                </a:solidFill>
                <a:latin typeface="Apple SD Gothic Neo"/>
                <a:ea typeface="Apple SD Gothic Neo"/>
                <a:cs typeface="Apple SD Gothic Neo"/>
              </a:rPr>
              <a:t>놓친 2건의 원인</a:t>
            </a:r>
          </a:p>
          <a:p>
            <a:pPr algn="l">
              <a:lnSpc>
                <a:spcPct val="120000"/>
              </a:lnSpc>
            </a:pPr>
            <a:r>
              <a:rPr sz="1800" b="0">
                <a:solidFill>
                  <a:srgbClr val="172B27"/>
                </a:solidFill>
                <a:latin typeface="Apple SD Gothic Neo"/>
                <a:ea typeface="Apple SD Gothic Neo"/>
                <a:cs typeface="Apple SD Gothic Neo"/>
              </a:rPr>
              <a:t>조회 6회를 다 쓰고 정리하지 못함</a:t>
            </a:r>
          </a:p>
          <a:p>
            <a:pPr algn="l">
              <a:lnSpc>
                <a:spcPct val="120000"/>
              </a:lnSpc>
            </a:pPr>
            <a:r>
              <a:rPr sz="1800" b="1">
                <a:solidFill>
                  <a:srgbClr val="D06B3D"/>
                </a:solidFill>
                <a:latin typeface="Apple SD Gothic Neo"/>
                <a:ea typeface="Apple SD Gothic Neo"/>
                <a:cs typeface="Apple SD Gothic Neo"/>
              </a:rPr>
              <a:t>고침</a:t>
            </a:r>
          </a:p>
          <a:p>
            <a:pPr algn="l">
              <a:lnSpc>
                <a:spcPct val="120000"/>
              </a:lnSpc>
            </a:pPr>
            <a:r>
              <a:rPr sz="1800" b="0">
                <a:solidFill>
                  <a:srgbClr val="172B27"/>
                </a:solidFill>
                <a:latin typeface="Apple SD Gothic Neo"/>
                <a:ea typeface="Apple SD Gothic Neo"/>
                <a:cs typeface="Apple SD Gothic Neo"/>
              </a:rPr>
              <a:t>"한도에 닿으면 모은 자료로 정리"</a:t>
            </a:r>
          </a:p>
          <a:p>
            <a:pPr algn="l">
              <a:lnSpc>
                <a:spcPct val="120000"/>
              </a:lnSpc>
            </a:pPr>
            <a:r>
              <a:rPr sz="1800" b="1">
                <a:solidFill>
                  <a:srgbClr val="D06B3D"/>
                </a:solidFill>
                <a:latin typeface="Apple SD Gothic Neo"/>
                <a:ea typeface="Apple SD Gothic Neo"/>
                <a:cs typeface="Apple SD Gothic Neo"/>
              </a:rPr>
              <a:t>사례 52 재확인</a:t>
            </a:r>
          </a:p>
          <a:p>
            <a:pPr algn="l">
              <a:lnSpc>
                <a:spcPct val="120000"/>
              </a:lnSpc>
            </a:pPr>
            <a:r>
              <a:rPr sz="1800" b="0">
                <a:solidFill>
                  <a:srgbClr val="172B27"/>
                </a:solidFill>
                <a:latin typeface="Apple SD Gothic Neo"/>
                <a:ea typeface="Apple SD Gothic Neo"/>
                <a:cs typeface="Apple SD Gothic Neo"/>
              </a:rPr>
              <a:t>조회 6회 · 27.8초 · 점검 3개</a:t>
            </a:r>
          </a:p>
          <a:p>
            <a:pPr algn="l">
              <a:lnSpc>
                <a:spcPct val="120000"/>
              </a:lnSpc>
            </a:pPr>
            <a:r>
              <a:rPr sz="1500" b="0">
                <a:solidFill>
                  <a:srgbClr val="62736A"/>
                </a:solidFill>
                <a:latin typeface="Apple SD Gothic Neo"/>
                <a:ea typeface="Apple SD Gothic Neo"/>
                <a:cs typeface="Apple SD Gothic Neo"/>
              </a:rPr>
              <a:t>(2/4에는 포함하지 않음)</a:t>
            </a:r>
          </a:p>
        </p:txBody>
      </p:sp>
      <p:sp>
        <p:nvSpPr>
          <p:cNvPr id="13" name="TextBox 12"/>
          <p:cNvSpPr txBox="1"/>
          <p:nvPr/>
        </p:nvSpPr>
        <p:spPr>
          <a:xfrm>
            <a:off x="731520" y="5669280"/>
            <a:ext cx="10698480" cy="457200"/>
          </a:xfrm>
          <a:prstGeom prst="rect">
            <a:avLst/>
          </a:prstGeom>
          <a:noFill/>
        </p:spPr>
        <p:txBody>
          <a:bodyPr wrap="square" lIns="18288" rIns="18288" tIns="18288" bIns="18288" anchor="t">
            <a:spAutoFit/>
          </a:bodyPr>
          <a:lstStyle/>
          <a:p>
            <a:pPr algn="l">
              <a:lnSpc>
                <a:spcPct val="115000"/>
              </a:lnSpc>
            </a:pPr>
            <a:r>
              <a:rPr sz="1600" b="0">
                <a:solidFill>
                  <a:srgbClr val="62736A"/>
                </a:solidFill>
                <a:latin typeface="Apple SD Gothic Neo"/>
                <a:ea typeface="Apple SD Gothic Neo"/>
                <a:cs typeface="Apple SD Gothic Neo"/>
              </a:rPr>
              <a:t>이 검사는 진단 정확도가 아니다 · Sonnet은 Claude Code로 읽기·검색만 허용</a:t>
            </a:r>
          </a:p>
        </p:txBody>
      </p:sp>
      <p:sp>
        <p:nvSpPr>
          <p:cNvPr id="14" name="TextBox 13"/>
          <p:cNvSpPr txBox="1"/>
          <p:nvPr/>
        </p:nvSpPr>
        <p:spPr>
          <a:xfrm>
            <a:off x="11155680" y="6355080"/>
            <a:ext cx="731520" cy="274320"/>
          </a:xfrm>
          <a:prstGeom prst="rect">
            <a:avLst/>
          </a:prstGeom>
          <a:noFill/>
        </p:spPr>
        <p:txBody>
          <a:bodyPr wrap="square" lIns="18288" rIns="18288" tIns="18288" bIns="18288" anchor="t">
            <a:spAutoFit/>
          </a:bodyPr>
          <a:lstStyle/>
          <a:p>
            <a:pPr algn="r">
              <a:lnSpc>
                <a:spcPct val="115000"/>
              </a:lnSpc>
            </a:pPr>
            <a:r>
              <a:rPr sz="1200" b="0">
                <a:solidFill>
                  <a:srgbClr val="62736A"/>
                </a:solidFill>
                <a:latin typeface="Apple SD Gothic Neo"/>
                <a:ea typeface="Apple SD Gothic Neo"/>
                <a:cs typeface="Apple SD Gothic Ne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9F4"/>
        </a:solidFill>
        <a:effectLst/>
      </p:bgPr>
    </p:bg>
    <p:spTree>
      <p:nvGrpSpPr>
        <p:cNvPr id="1" name=""/>
        <p:cNvGrpSpPr/>
        <p:nvPr/>
      </p:nvGrpSpPr>
      <p:grpSpPr/>
      <p:sp>
        <p:nvSpPr>
          <p:cNvPr id="2" name="TextBox 1"/>
          <p:cNvSpPr txBox="1"/>
          <p:nvPr/>
        </p:nvSpPr>
        <p:spPr>
          <a:xfrm>
            <a:off x="731520" y="777240"/>
            <a:ext cx="10789920" cy="822960"/>
          </a:xfrm>
          <a:prstGeom prst="rect">
            <a:avLst/>
          </a:prstGeom>
          <a:noFill/>
        </p:spPr>
        <p:txBody>
          <a:bodyPr wrap="square" lIns="18288" rIns="18288" tIns="18288" bIns="18288" anchor="t">
            <a:spAutoFit/>
          </a:bodyPr>
          <a:lstStyle/>
          <a:p>
            <a:pPr algn="l">
              <a:lnSpc>
                <a:spcPct val="115000"/>
              </a:lnSpc>
            </a:pPr>
            <a:r>
              <a:rPr sz="3600" b="1">
                <a:solidFill>
                  <a:srgbClr val="172B27"/>
                </a:solidFill>
                <a:latin typeface="Apple SD Gothic Neo"/>
                <a:ea typeface="Apple SD Gothic Neo"/>
                <a:cs typeface="Apple SD Gothic Neo"/>
              </a:rPr>
              <a:t>다음 단계</a:t>
            </a:r>
          </a:p>
        </p:txBody>
      </p:sp>
      <p:sp>
        <p:nvSpPr>
          <p:cNvPr id="3" name="Rounded Rectangle 2"/>
          <p:cNvSpPr/>
          <p:nvPr/>
        </p:nvSpPr>
        <p:spPr>
          <a:xfrm>
            <a:off x="731520" y="2103120"/>
            <a:ext cx="3291840" cy="173736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2240280"/>
            <a:ext cx="914400" cy="640080"/>
          </a:xfrm>
          <a:prstGeom prst="rect">
            <a:avLst/>
          </a:prstGeom>
          <a:noFill/>
        </p:spPr>
        <p:txBody>
          <a:bodyPr wrap="square" lIns="18288" rIns="18288" tIns="18288" bIns="18288" anchor="t">
            <a:spAutoFit/>
          </a:bodyPr>
          <a:lstStyle/>
          <a:p>
            <a:pPr algn="l">
              <a:lnSpc>
                <a:spcPct val="115000"/>
              </a:lnSpc>
            </a:pPr>
            <a:r>
              <a:rPr sz="3200" b="1">
                <a:solidFill>
                  <a:srgbClr val="D06B3D"/>
                </a:solidFill>
                <a:latin typeface="Apple SD Gothic Neo"/>
                <a:ea typeface="Apple SD Gothic Neo"/>
                <a:cs typeface="Apple SD Gothic Neo"/>
              </a:rPr>
              <a:t>1</a:t>
            </a:r>
          </a:p>
        </p:txBody>
      </p:sp>
      <p:sp>
        <p:nvSpPr>
          <p:cNvPr id="5" name="TextBox 4"/>
          <p:cNvSpPr txBox="1"/>
          <p:nvPr/>
        </p:nvSpPr>
        <p:spPr>
          <a:xfrm>
            <a:off x="1005840" y="2880360"/>
            <a:ext cx="2834640" cy="914400"/>
          </a:xfrm>
          <a:prstGeom prst="rect">
            <a:avLst/>
          </a:prstGeom>
          <a:noFill/>
        </p:spPr>
        <p:txBody>
          <a:bodyPr wrap="square" lIns="18288" rIns="18288" tIns="18288" bIns="18288" anchor="t">
            <a:spAutoFit/>
          </a:bodyPr>
          <a:lstStyle/>
          <a:p>
            <a:pPr algn="l">
              <a:lnSpc>
                <a:spcPct val="115000"/>
              </a:lnSpc>
            </a:pPr>
            <a:r>
              <a:rPr sz="2100" b="0">
                <a:solidFill>
                  <a:srgbClr val="172B27"/>
                </a:solidFill>
                <a:latin typeface="Apple SD Gothic Neo"/>
                <a:ea typeface="Apple SD Gothic Neo"/>
                <a:cs typeface="Apple SD Gothic Neo"/>
              </a:rPr>
              <a:t>현장 엔지니어 평가</a:t>
            </a:r>
          </a:p>
        </p:txBody>
      </p:sp>
      <p:cxnSp>
        <p:nvCxnSpPr>
          <p:cNvPr id="6" name="Connector 5"/>
          <p:cNvCxnSpPr/>
          <p:nvPr/>
        </p:nvCxnSpPr>
        <p:spPr>
          <a:xfrm>
            <a:off x="4069080" y="2971800"/>
            <a:ext cx="320040" cy="0"/>
          </a:xfrm>
          <a:prstGeom prst="line">
            <a:avLst/>
          </a:prstGeom>
          <a:ln w="31750">
            <a:solidFill>
              <a:srgbClr val="D06B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434840" y="2103120"/>
            <a:ext cx="3291840" cy="173736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709159" y="2240280"/>
            <a:ext cx="914400" cy="640080"/>
          </a:xfrm>
          <a:prstGeom prst="rect">
            <a:avLst/>
          </a:prstGeom>
          <a:noFill/>
        </p:spPr>
        <p:txBody>
          <a:bodyPr wrap="square" lIns="18288" rIns="18288" tIns="18288" bIns="18288" anchor="t">
            <a:spAutoFit/>
          </a:bodyPr>
          <a:lstStyle/>
          <a:p>
            <a:pPr algn="l">
              <a:lnSpc>
                <a:spcPct val="115000"/>
              </a:lnSpc>
            </a:pPr>
            <a:r>
              <a:rPr sz="3200" b="1">
                <a:solidFill>
                  <a:srgbClr val="D06B3D"/>
                </a:solidFill>
                <a:latin typeface="Apple SD Gothic Neo"/>
                <a:ea typeface="Apple SD Gothic Neo"/>
                <a:cs typeface="Apple SD Gothic Neo"/>
              </a:rPr>
              <a:t>2</a:t>
            </a:r>
          </a:p>
        </p:txBody>
      </p:sp>
      <p:sp>
        <p:nvSpPr>
          <p:cNvPr id="9" name="TextBox 8"/>
          <p:cNvSpPr txBox="1"/>
          <p:nvPr/>
        </p:nvSpPr>
        <p:spPr>
          <a:xfrm>
            <a:off x="4709159" y="2880360"/>
            <a:ext cx="2834640" cy="914400"/>
          </a:xfrm>
          <a:prstGeom prst="rect">
            <a:avLst/>
          </a:prstGeom>
          <a:noFill/>
        </p:spPr>
        <p:txBody>
          <a:bodyPr wrap="square" lIns="18288" rIns="18288" tIns="18288" bIns="18288" anchor="t">
            <a:spAutoFit/>
          </a:bodyPr>
          <a:lstStyle/>
          <a:p>
            <a:pPr algn="l">
              <a:lnSpc>
                <a:spcPct val="115000"/>
              </a:lnSpc>
            </a:pPr>
            <a:r>
              <a:rPr sz="2100" b="0">
                <a:solidFill>
                  <a:srgbClr val="172B27"/>
                </a:solidFill>
                <a:latin typeface="Apple SD Gothic Neo"/>
                <a:ea typeface="Apple SD Gothic Neo"/>
                <a:cs typeface="Apple SD Gothic Neo"/>
              </a:rPr>
              <a:t>새 사건으로 재검증</a:t>
            </a:r>
          </a:p>
        </p:txBody>
      </p:sp>
      <p:cxnSp>
        <p:nvCxnSpPr>
          <p:cNvPr id="10" name="Connector 9"/>
          <p:cNvCxnSpPr/>
          <p:nvPr/>
        </p:nvCxnSpPr>
        <p:spPr>
          <a:xfrm>
            <a:off x="7772400" y="2971800"/>
            <a:ext cx="320040" cy="0"/>
          </a:xfrm>
          <a:prstGeom prst="line">
            <a:avLst/>
          </a:prstGeom>
          <a:ln w="31750">
            <a:solidFill>
              <a:srgbClr val="D06B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38160" y="2103120"/>
            <a:ext cx="3291840" cy="1737360"/>
          </a:xfrm>
          <a:prstGeom prst="roundRect">
            <a:avLst>
              <a:gd name="adj" fmla="val 12000"/>
            </a:avLst>
          </a:prstGeom>
          <a:solidFill>
            <a:srgbClr val="FFFFFF"/>
          </a:solidFill>
          <a:ln w="15875">
            <a:solidFill>
              <a:srgbClr val="BFC8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412480" y="2240280"/>
            <a:ext cx="914400" cy="640080"/>
          </a:xfrm>
          <a:prstGeom prst="rect">
            <a:avLst/>
          </a:prstGeom>
          <a:noFill/>
        </p:spPr>
        <p:txBody>
          <a:bodyPr wrap="square" lIns="18288" rIns="18288" tIns="18288" bIns="18288" anchor="t">
            <a:spAutoFit/>
          </a:bodyPr>
          <a:lstStyle/>
          <a:p>
            <a:pPr algn="l">
              <a:lnSpc>
                <a:spcPct val="115000"/>
              </a:lnSpc>
            </a:pPr>
            <a:r>
              <a:rPr sz="3200" b="1">
                <a:solidFill>
                  <a:srgbClr val="D06B3D"/>
                </a:solidFill>
                <a:latin typeface="Apple SD Gothic Neo"/>
                <a:ea typeface="Apple SD Gothic Neo"/>
                <a:cs typeface="Apple SD Gothic Neo"/>
              </a:rPr>
              <a:t>3</a:t>
            </a:r>
          </a:p>
        </p:txBody>
      </p:sp>
      <p:sp>
        <p:nvSpPr>
          <p:cNvPr id="13" name="TextBox 12"/>
          <p:cNvSpPr txBox="1"/>
          <p:nvPr/>
        </p:nvSpPr>
        <p:spPr>
          <a:xfrm>
            <a:off x="8412480" y="2880360"/>
            <a:ext cx="2834640" cy="914400"/>
          </a:xfrm>
          <a:prstGeom prst="rect">
            <a:avLst/>
          </a:prstGeom>
          <a:noFill/>
        </p:spPr>
        <p:txBody>
          <a:bodyPr wrap="square" lIns="18288" rIns="18288" tIns="18288" bIns="18288" anchor="t">
            <a:spAutoFit/>
          </a:bodyPr>
          <a:lstStyle/>
          <a:p>
            <a:pPr algn="l">
              <a:lnSpc>
                <a:spcPct val="115000"/>
              </a:lnSpc>
            </a:pPr>
            <a:r>
              <a:rPr sz="2100" b="0">
                <a:solidFill>
                  <a:srgbClr val="172B27"/>
                </a:solidFill>
                <a:latin typeface="Apple SD Gothic Neo"/>
                <a:ea typeface="Apple SD Gothic Neo"/>
                <a:cs typeface="Apple SD Gothic Neo"/>
              </a:rPr>
              <a:t>발전소 확장</a:t>
            </a:r>
          </a:p>
          <a:p>
            <a:pPr algn="l">
              <a:lnSpc>
                <a:spcPct val="115000"/>
              </a:lnSpc>
            </a:pPr>
            <a:r>
              <a:rPr sz="2100" b="0">
                <a:solidFill>
                  <a:srgbClr val="172B27"/>
                </a:solidFill>
                <a:latin typeface="Apple SD Gothic Neo"/>
                <a:ea typeface="Apple SD Gothic Neo"/>
                <a:cs typeface="Apple SD Gothic Neo"/>
              </a:rPr>
              <a:t>+ </a:t>
            </a:r>
            <a:r>
              <a:rPr sz="2100" b="1">
                <a:solidFill>
                  <a:srgbClr val="76B900"/>
                </a:solidFill>
                <a:latin typeface="Apple SD Gothic Neo"/>
                <a:ea typeface="Apple SD Gothic Neo"/>
                <a:cs typeface="Apple SD Gothic Neo"/>
              </a:rPr>
              <a:t>Nano</a:t>
            </a:r>
            <a:r>
              <a:rPr sz="2100" b="0">
                <a:solidFill>
                  <a:srgbClr val="172B27"/>
                </a:solidFill>
                <a:latin typeface="Apple SD Gothic Neo"/>
                <a:ea typeface="Apple SD Gothic Neo"/>
                <a:cs typeface="Apple SD Gothic Neo"/>
              </a:rPr>
              <a:t> 상시 감시</a:t>
            </a:r>
          </a:p>
        </p:txBody>
      </p:sp>
      <p:sp>
        <p:nvSpPr>
          <p:cNvPr id="14" name="TextBox 13"/>
          <p:cNvSpPr txBox="1"/>
          <p:nvPr/>
        </p:nvSpPr>
        <p:spPr>
          <a:xfrm>
            <a:off x="731520" y="4480560"/>
            <a:ext cx="10698480" cy="914400"/>
          </a:xfrm>
          <a:prstGeom prst="rect">
            <a:avLst/>
          </a:prstGeom>
          <a:noFill/>
        </p:spPr>
        <p:txBody>
          <a:bodyPr wrap="square" lIns="18288" rIns="18288" tIns="18288" bIns="18288" anchor="t">
            <a:spAutoFit/>
          </a:bodyPr>
          <a:lstStyle/>
          <a:p>
            <a:pPr algn="ctr">
              <a:lnSpc>
                <a:spcPct val="115000"/>
              </a:lnSpc>
            </a:pPr>
            <a:r>
              <a:rPr sz="3600" b="1">
                <a:solidFill>
                  <a:srgbClr val="244E41"/>
                </a:solidFill>
                <a:latin typeface="Apple SD Gothic Neo"/>
                <a:ea typeface="Apple SD Gothic Neo"/>
                <a:cs typeface="Apple SD Gothic Neo"/>
              </a:rPr>
              <a:t>판단은 엔지니어가, 자료 수집은 Plant가.</a:t>
            </a:r>
          </a:p>
        </p:txBody>
      </p:sp>
      <p:sp>
        <p:nvSpPr>
          <p:cNvPr id="15" name="TextBox 14"/>
          <p:cNvSpPr txBox="1"/>
          <p:nvPr/>
        </p:nvSpPr>
        <p:spPr>
          <a:xfrm>
            <a:off x="731520" y="5669280"/>
            <a:ext cx="10698480" cy="365760"/>
          </a:xfrm>
          <a:prstGeom prst="rect">
            <a:avLst/>
          </a:prstGeom>
          <a:noFill/>
        </p:spPr>
        <p:txBody>
          <a:bodyPr wrap="square" lIns="18288" rIns="18288" tIns="18288" bIns="18288" anchor="t">
            <a:spAutoFit/>
          </a:bodyPr>
          <a:lstStyle/>
          <a:p>
            <a:pPr algn="ctr">
              <a:lnSpc>
                <a:spcPct val="115000"/>
              </a:lnSpc>
            </a:pPr>
            <a:r>
              <a:rPr sz="1600" b="0">
                <a:solidFill>
                  <a:srgbClr val="62736A"/>
                </a:solidFill>
                <a:latin typeface="Apple SD Gothic Neo"/>
                <a:ea typeface="Apple SD Gothic Neo"/>
                <a:cs typeface="Apple SD Gothic Neo"/>
              </a:rPr>
              <a:t>데모는 저장된 실제 실행 기록을 재생합니다</a:t>
            </a:r>
          </a:p>
        </p:txBody>
      </p:sp>
      <p:sp>
        <p:nvSpPr>
          <p:cNvPr id="16" name="TextBox 15"/>
          <p:cNvSpPr txBox="1"/>
          <p:nvPr/>
        </p:nvSpPr>
        <p:spPr>
          <a:xfrm>
            <a:off x="11155680" y="6355080"/>
            <a:ext cx="731520" cy="274320"/>
          </a:xfrm>
          <a:prstGeom prst="rect">
            <a:avLst/>
          </a:prstGeom>
          <a:noFill/>
        </p:spPr>
        <p:txBody>
          <a:bodyPr wrap="square" lIns="18288" rIns="18288" tIns="18288" bIns="18288" anchor="t">
            <a:spAutoFit/>
          </a:bodyPr>
          <a:lstStyle/>
          <a:p>
            <a:pPr algn="r">
              <a:lnSpc>
                <a:spcPct val="115000"/>
              </a:lnSpc>
            </a:pPr>
            <a:r>
              <a:rPr sz="1200" b="0">
                <a:solidFill>
                  <a:srgbClr val="62736A"/>
                </a:solidFill>
                <a:latin typeface="Apple SD Gothic Neo"/>
                <a:ea typeface="Apple SD Gothic Neo"/>
                <a:cs typeface="Apple SD Gothic Neo"/>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